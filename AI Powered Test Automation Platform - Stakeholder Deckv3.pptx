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theme/theme26.xml" ContentType="application/vnd.openxmlformats-officedocument.theme+xml"/>
  <Override PartName="/ppt/theme/theme1.xml" ContentType="application/vnd.openxmlformats-officedocument.theme+xml"/>
  <Override PartName="/ppt/theme/theme27.xml" ContentType="application/vnd.openxmlformats-officedocument.theme+xml"/>
  <Override PartName="/ppt/theme/theme2.xml" ContentType="application/vnd.openxmlformats-officedocument.theme+xml"/>
  <Override PartName="/ppt/theme/theme28.xml" ContentType="application/vnd.openxmlformats-officedocument.theme+xml"/>
  <Override PartName="/ppt/theme/theme3.xml" ContentType="application/vnd.openxmlformats-officedocument.theme+xml"/>
  <Override PartName="/ppt/theme/theme29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media/image12.wmf" ContentType="image/x-wmf"/>
  <Override PartName="/ppt/media/image1.png" ContentType="image/png"/>
  <Override PartName="/ppt/media/image13.wmf" ContentType="image/x-wmf"/>
  <Override PartName="/ppt/media/image2.png" ContentType="image/png"/>
  <Override PartName="/ppt/media/image14.wmf" ContentType="image/x-wmf"/>
  <Override PartName="/ppt/media/image3.png" ContentType="image/png"/>
  <Override PartName="/ppt/media/image15.wmf" ContentType="image/x-wmf"/>
  <Override PartName="/ppt/media/image4.png" ContentType="image/png"/>
  <Override PartName="/ppt/media/image8.png" ContentType="image/png"/>
  <Override PartName="/ppt/media/image5.svg" ContentType="image/svg"/>
  <Override PartName="/ppt/media/image6.png" ContentType="image/png"/>
  <Override PartName="/ppt/media/image7.png" ContentType="image/png"/>
  <Override PartName="/ppt/media/image9.svg" ContentType="image/svg"/>
  <Override PartName="/ppt/media/image10.png" ContentType="image/png"/>
  <Override PartName="/ppt/media/image11.wmf" ContentType="image/x-wmf"/>
  <Override PartName="/ppt/media/image16.wmf" ContentType="image/x-wmf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svg" ContentType="image/svg"/>
  <Override PartName="/ppt/media/image33.png" ContentType="image/png"/>
  <Override PartName="/ppt/media/image26.png" ContentType="image/png"/>
  <Override PartName="/ppt/media/image27.svg" ContentType="image/svg"/>
  <Override PartName="/ppt/media/image35.png" ContentType="image/png"/>
  <Override PartName="/ppt/media/image37.jpeg" ContentType="image/jpeg"/>
  <Override PartName="/ppt/media/image28.png" ContentType="image/png"/>
  <Override PartName="/ppt/media/image29.svg" ContentType="image/svg"/>
  <Override PartName="/ppt/media/image30.png" ContentType="image/png"/>
  <Override PartName="/ppt/media/image31.svg" ContentType="image/svg"/>
  <Override PartName="/ppt/media/image32.png" ContentType="image/png"/>
  <Override PartName="/ppt/media/image34.svg" ContentType="image/svg"/>
  <Override PartName="/ppt/media/image36.svg" ContentType="image/svg"/>
  <Override PartName="/ppt/media/image38.png" ContentType="image/png"/>
  <Override PartName="/ppt/media/image39.svg" ContentType="image/svg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</p:sldMasterIdLst>
  <p:sldIdLst>
    <p:sldId id="256" r:id="rId37"/>
    <p:sldId id="257" r:id="rId38"/>
    <p:sldId id="258" r:id="rId39"/>
    <p:sldId id="259" r:id="rId40"/>
    <p:sldId id="260" r:id="rId41"/>
    <p:sldId id="261" r:id="rId42"/>
    <p:sldId id="262" r:id="rId43"/>
    <p:sldId id="263" r:id="rId4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" Target="slides/slide1.xml"/><Relationship Id="rId38" Type="http://schemas.openxmlformats.org/officeDocument/2006/relationships/slide" Target="slides/slide2.xml"/><Relationship Id="rId39" Type="http://schemas.openxmlformats.org/officeDocument/2006/relationships/slide" Target="slides/slide3.xml"/><Relationship Id="rId40" Type="http://schemas.openxmlformats.org/officeDocument/2006/relationships/slide" Target="slides/slide4.xml"/><Relationship Id="rId41" Type="http://schemas.openxmlformats.org/officeDocument/2006/relationships/slide" Target="slides/slide5.xml"/><Relationship Id="rId42" Type="http://schemas.openxmlformats.org/officeDocument/2006/relationships/slide" Target="slides/slide6.xml"/><Relationship Id="rId43" Type="http://schemas.openxmlformats.org/officeDocument/2006/relationships/slide" Target="slides/slide7.xml"/><Relationship Id="rId44" Type="http://schemas.openxmlformats.org/officeDocument/2006/relationships/slide" Target="slides/slide8.xml"/><Relationship Id="rId45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1300" spc="-1" strike="noStrike">
                <a:solidFill>
                  <a:srgbClr val="222222"/>
                </a:solidFill>
                <a:latin typeface="Arial"/>
              </a:defRPr>
            </a:pPr>
            <a:r>
              <a:rPr b="1" sz="1300" spc="-1" strike="noStrike">
                <a:solidFill>
                  <a:srgbClr val="222222"/>
                </a:solidFill>
                <a:latin typeface="Arial"/>
              </a:rPr>
              <a:t>Manual effort scales with every test case added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Manual effort (engineer-days)</c:v>
                </c:pt>
              </c:strCache>
            </c:strRef>
          </c:tx>
          <c:spPr>
            <a:solidFill>
              <a:srgbClr val="0000b3"/>
            </a:solidFill>
            <a:ln w="0">
              <a:noFill/>
            </a:ln>
          </c:spPr>
          <c:invertIfNegative val="0"/>
          <c:dLbls>
            <c:numFmt formatCode="0&quot; days&quot;" sourceLinked="0"/>
            <c:txPr>
              <a:bodyPr wrap="square"/>
              <a:lstStyle/>
              <a:p>
                <a:pPr>
                  <a:defRPr b="1" sz="1150" spc="-1" strike="noStrike">
                    <a:solidFill>
                      <a:srgbClr val="0000b3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10 test cases</c:v>
                </c:pt>
                <c:pt idx="1">
                  <c:v>25 test cases</c:v>
                </c:pt>
                <c:pt idx="2">
                  <c:v>50 test cases</c:v>
                </c:pt>
                <c:pt idx="3">
                  <c:v>100 test cases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5</c:v>
                </c:pt>
                <c:pt idx="1">
                  <c:v>12.5</c:v>
                </c:pt>
                <c:pt idx="2">
                  <c:v>25</c:v>
                </c:pt>
                <c:pt idx="3">
                  <c:v>50</c:v>
                </c:pt>
              </c:numCache>
            </c:numRef>
          </c:val>
        </c:ser>
        <c:gapWidth val="60"/>
        <c:overlap val="0"/>
        <c:axId val="11768713"/>
        <c:axId val="33801263"/>
      </c:barChart>
      <c:catAx>
        <c:axId val="11768713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6480">
            <a:solidFill>
              <a:srgbClr val="d8dcee"/>
            </a:solidFill>
            <a:round/>
          </a:ln>
        </c:spPr>
        <c:txPr>
          <a:bodyPr/>
          <a:lstStyle/>
          <a:p>
            <a:pPr>
              <a:defRPr b="0" sz="1100" spc="-1" strike="noStrike">
                <a:solidFill>
                  <a:srgbClr val="000000"/>
                </a:solidFill>
                <a:latin typeface="DM Sans"/>
              </a:defRPr>
            </a:pPr>
          </a:p>
        </c:txPr>
        <c:crossAx val="33801263"/>
        <c:crosses val="autoZero"/>
        <c:auto val="1"/>
        <c:lblAlgn val="ctr"/>
        <c:lblOffset val="100"/>
        <c:noMultiLvlLbl val="0"/>
      </c:catAx>
      <c:valAx>
        <c:axId val="33801263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DM Sans"/>
              </a:defRPr>
            </a:pPr>
          </a:p>
        </c:txPr>
        <c:crossAx val="11768713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3134DD0-283E-4CFC-AF5D-59C643E5892C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0A347F-3256-4E13-ADEF-62B996D375AF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Cover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rge audi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4B9FDD7-30FC-4581-BE2A-361EC55131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3F0164-099C-4FFA-848A-69713C414236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afety P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D6A7BD83-B75C-4A9C-A2C5-FF1A5D54832E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ver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9CD75A9-C0C1-472E-A184-34F5F0691888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afety P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69AC47D-DD18-4F07-BB82-E2D3B4CBA355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E48FD01-A13D-433A-8E12-5D4803C0DDC6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0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Quot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D83FB40-6EA2-4C52-AD71-6780C8F62400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Cover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BA6DF16-7E84-4009-851B-ABF4251C51D4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EB4776E9-2C35-4C0C-8F69-035D8838A79A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oc - 2 columns without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5EF968E-D237-4682-8B73-10419E808B2C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over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ocess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64004364-A8F5-412C-9D51-9FE215287382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wmf"/><Relationship Id="rId8" Type="http://schemas.openxmlformats.org/officeDocument/2006/relationships/image" Target="../media/image12.wmf"/><Relationship Id="rId9" Type="http://schemas.openxmlformats.org/officeDocument/2006/relationships/image" Target="../media/image13.wmf"/><Relationship Id="rId10" Type="http://schemas.openxmlformats.org/officeDocument/2006/relationships/image" Target="../media/image14.wmf"/><Relationship Id="rId11" Type="http://schemas.openxmlformats.org/officeDocument/2006/relationships/image" Target="../media/image15.wmf"/><Relationship Id="rId12" Type="http://schemas.openxmlformats.org/officeDocument/2006/relationships/image" Target="../media/image16.wmf"/><Relationship Id="rId1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wmf"/><Relationship Id="rId8" Type="http://schemas.openxmlformats.org/officeDocument/2006/relationships/image" Target="../media/image12.wmf"/><Relationship Id="rId9" Type="http://schemas.openxmlformats.org/officeDocument/2006/relationships/image" Target="../media/image13.wmf"/><Relationship Id="rId10" Type="http://schemas.openxmlformats.org/officeDocument/2006/relationships/image" Target="../media/image14.wmf"/><Relationship Id="rId11" Type="http://schemas.openxmlformats.org/officeDocument/2006/relationships/image" Target="../media/image15.wmf"/><Relationship Id="rId12" Type="http://schemas.openxmlformats.org/officeDocument/2006/relationships/image" Target="../media/image16.wmf"/><Relationship Id="rId1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8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5.svg"/><Relationship Id="rId10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23.png"/><Relationship Id="rId8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image" Target="../media/image24.png"/><Relationship Id="rId10" Type="http://schemas.openxmlformats.org/officeDocument/2006/relationships/image" Target="../media/image25.svg"/><Relationship Id="rId11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image" Target="../media/image26.png"/><Relationship Id="rId3" Type="http://schemas.openxmlformats.org/officeDocument/2006/relationships/image" Target="../media/image27.svg"/><Relationship Id="rId4" Type="http://schemas.openxmlformats.org/officeDocument/2006/relationships/image" Target="../media/image28.png"/><Relationship Id="rId5" Type="http://schemas.openxmlformats.org/officeDocument/2006/relationships/image" Target="../media/image29.svg"/><Relationship Id="rId6" Type="http://schemas.openxmlformats.org/officeDocument/2006/relationships/image" Target="../media/image30.png"/><Relationship Id="rId7" Type="http://schemas.openxmlformats.org/officeDocument/2006/relationships/image" Target="../media/image31.sv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svg"/><Relationship Id="rId11" Type="http://schemas.openxmlformats.org/officeDocument/2006/relationships/image" Target="../media/image1.png"/><Relationship Id="rId12" Type="http://schemas.openxmlformats.org/officeDocument/2006/relationships/image" Target="../media/image2.pn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hyperlink" Target="http://tatatechnologies.com/" TargetMode="External"/><Relationship Id="rId16" Type="http://schemas.openxmlformats.org/officeDocument/2006/relationships/hyperlink" Target="https://www.linkedin.com/company/tata-technologies" TargetMode="External"/><Relationship Id="rId17" Type="http://schemas.openxmlformats.org/officeDocument/2006/relationships/hyperlink" Target="https://www.instagram.com/tatatechnologies/" TargetMode="External"/><Relationship Id="rId18" Type="http://schemas.openxmlformats.org/officeDocument/2006/relationships/hyperlink" Target="https://twitter.com/tatatech_news?s=11&amp;t=fgv6pWVIZCV4O0Z1gAQ2kQ" TargetMode="External"/><Relationship Id="rId19" Type="http://schemas.openxmlformats.org/officeDocument/2006/relationships/hyperlink" Target="https://www.youtube.com/user/tatatechnologies" TargetMode="External"/><Relationship Id="rId20" Type="http://schemas.openxmlformats.org/officeDocument/2006/relationships/hyperlink" Target="https://www.facebook.com/TataTechnologies/" TargetMode="External"/><Relationship Id="rId21" Type="http://schemas.openxmlformats.org/officeDocument/2006/relationships/image" Target="../media/image3.png"/><Relationship Id="rId22" Type="http://schemas.openxmlformats.org/officeDocument/2006/relationships/image" Target="../media/image4.png"/><Relationship Id="rId23" Type="http://schemas.openxmlformats.org/officeDocument/2006/relationships/image" Target="../media/image5.svg"/><Relationship Id="rId24" Type="http://schemas.openxmlformats.org/officeDocument/2006/relationships/image" Target="../media/image35.png"/><Relationship Id="rId25" Type="http://schemas.openxmlformats.org/officeDocument/2006/relationships/image" Target="../media/image36.svg"/><Relationship Id="rId26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slideLayout" Target="../slideLayouts/slideLayout3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7"/>
          <p:cNvGrpSpPr/>
          <p:nvPr/>
        </p:nvGrpSpPr>
        <p:grpSpPr>
          <a:xfrm>
            <a:off x="11084040" y="316800"/>
            <a:ext cx="761040" cy="157320"/>
            <a:chOff x="11084040" y="316800"/>
            <a:chExt cx="761040" cy="157320"/>
          </a:xfrm>
        </p:grpSpPr>
        <p:sp>
          <p:nvSpPr>
            <p:cNvPr id="1" name="object 6"/>
            <p:cNvSpPr/>
            <p:nvPr/>
          </p:nvSpPr>
          <p:spPr>
            <a:xfrm>
              <a:off x="1146744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2" name="object 7"/>
            <p:cNvSpPr/>
            <p:nvPr/>
          </p:nvSpPr>
          <p:spPr>
            <a:xfrm>
              <a:off x="1170288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" name="object 8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4" name="object 9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5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6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7" name="object 22"/>
            <p:cNvSpPr/>
            <p:nvPr/>
          </p:nvSpPr>
          <p:spPr>
            <a:xfrm>
              <a:off x="11363760" y="33876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8" name="object 23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9" name="object 24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10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2" name="TextBox 3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" name="Picture 2" descr=""/>
          <p:cNvPicPr/>
          <p:nvPr/>
        </p:nvPicPr>
        <p:blipFill>
          <a:blip r:embed="rId6"/>
          <a:stretch/>
        </p:blipFill>
        <p:spPr>
          <a:xfrm>
            <a:off x="334440" y="333360"/>
            <a:ext cx="1774800" cy="125640"/>
          </a:xfrm>
          <a:prstGeom prst="rect">
            <a:avLst/>
          </a:prstGeom>
          <a:ln w="0">
            <a:noFill/>
          </a:ln>
        </p:spPr>
      </p:pic>
      <p:pic>
        <p:nvPicPr>
          <p:cNvPr id="14" name="Graphic 4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704160" y="6408000"/>
            <a:ext cx="2134800" cy="168120"/>
          </a:xfrm>
          <a:prstGeom prst="rect">
            <a:avLst/>
          </a:prstGeom>
          <a:ln w="0">
            <a:noFill/>
          </a:ln>
        </p:spPr>
      </p:pic>
      <p:sp>
        <p:nvSpPr>
          <p:cNvPr id="15" name="hcSlideMaster87.Blank blu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hcSlideMaster78.Blank blu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hcSlideMaster253.Blank blu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hcSlideMaster.Blank blu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sldNum" idx="1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lt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9CBB064-20FE-42D1-A7D6-CC7E01C4CD8A}" type="slidenum">
              <a:rPr b="0" lang="en-GB" sz="800" spc="-1" strike="noStrike">
                <a:solidFill>
                  <a:schemeClr val="lt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9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21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22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23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24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5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6" name="TextBox 2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Graphic 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28" name="Picture 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29" name="hcSlideMaster87.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hcSlideMaster169.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hcSlideMaster68.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hcSlideMaster.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8000"/>
                </a:solidFill>
                <a:latin typeface="Microsoft Sans Serif"/>
              </a:rPr>
              <a:t>Public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hcSlideMaster253.1_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hcSlideMaster.1_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sldNum" idx="2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8B7F45-AF24-43B2-A6CF-D41433E588D2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7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8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37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8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39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40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1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42" name="Picture 14" descr=""/>
          <p:cNvPicPr/>
          <p:nvPr/>
        </p:nvPicPr>
        <p:blipFill>
          <a:blip r:embed="rId4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43" name="TextBox 15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2022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Graphic 1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sp>
        <p:nvSpPr>
          <p:cNvPr id="45" name="hcSlideMaster130.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hcSlideMaster.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7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16"/>
          <p:cNvGrpSpPr/>
          <p:nvPr/>
        </p:nvGrpSpPr>
        <p:grpSpPr>
          <a:xfrm>
            <a:off x="11084040" y="316800"/>
            <a:ext cx="761040" cy="157320"/>
            <a:chOff x="11084040" y="316800"/>
            <a:chExt cx="761040" cy="157320"/>
          </a:xfrm>
        </p:grpSpPr>
        <p:sp>
          <p:nvSpPr>
            <p:cNvPr id="48" name="object 6"/>
            <p:cNvSpPr/>
            <p:nvPr/>
          </p:nvSpPr>
          <p:spPr>
            <a:xfrm>
              <a:off x="1146744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9" name="object 7"/>
            <p:cNvSpPr/>
            <p:nvPr/>
          </p:nvSpPr>
          <p:spPr>
            <a:xfrm>
              <a:off x="1170288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50" name="object 8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51" name="object 9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52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3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4" name="object 22"/>
            <p:cNvSpPr/>
            <p:nvPr/>
          </p:nvSpPr>
          <p:spPr>
            <a:xfrm>
              <a:off x="11363760" y="33876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55" name="object 23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56" name="object 24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57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8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59" name="TextBox 35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60" name="object 8"/>
          <p:cNvGrpSpPr/>
          <p:nvPr/>
        </p:nvGrpSpPr>
        <p:grpSpPr>
          <a:xfrm>
            <a:off x="358920" y="1264680"/>
            <a:ext cx="659880" cy="835560"/>
            <a:chOff x="358920" y="1264680"/>
            <a:chExt cx="659880" cy="835560"/>
          </a:xfrm>
        </p:grpSpPr>
        <p:sp>
          <p:nvSpPr>
            <p:cNvPr id="61" name="object 9"/>
            <p:cNvSpPr/>
            <p:nvPr/>
          </p:nvSpPr>
          <p:spPr>
            <a:xfrm>
              <a:off x="547920" y="1578240"/>
              <a:ext cx="168120" cy="208080"/>
            </a:xfrm>
            <a:custGeom>
              <a:avLst/>
              <a:gdLst>
                <a:gd name="textAreaLeft" fmla="*/ 0 w 168120"/>
                <a:gd name="textAreaRight" fmla="*/ 168840 w 168120"/>
                <a:gd name="textAreaTop" fmla="*/ 0 h 208080"/>
                <a:gd name="textAreaBottom" fmla="*/ 208800 h 208080"/>
              </a:gdLst>
              <a:ahLst/>
              <a:rect l="textAreaLeft" t="textAreaTop" r="textAreaRight" b="textAreaBottom"/>
              <a:pathLst>
                <a:path w="282575" h="349250">
                  <a:moveTo>
                    <a:pt x="147482" y="349204"/>
                  </a:moveTo>
                  <a:lnTo>
                    <a:pt x="0" y="349204"/>
                  </a:lnTo>
                  <a:lnTo>
                    <a:pt x="0" y="0"/>
                  </a:lnTo>
                  <a:lnTo>
                    <a:pt x="282504" y="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62" name="object 10"/>
            <p:cNvSpPr/>
            <p:nvPr/>
          </p:nvSpPr>
          <p:spPr>
            <a:xfrm>
              <a:off x="457920" y="1488240"/>
              <a:ext cx="293040" cy="388080"/>
            </a:xfrm>
            <a:custGeom>
              <a:avLst/>
              <a:gdLst>
                <a:gd name="textAreaLeft" fmla="*/ 0 w 293040"/>
                <a:gd name="textAreaRight" fmla="*/ 293760 w 293040"/>
                <a:gd name="textAreaTop" fmla="*/ 0 h 388080"/>
                <a:gd name="textAreaBottom" fmla="*/ 388800 h 388080"/>
              </a:gdLst>
              <a:ahLst/>
              <a:rect l="textAreaLeft" t="textAreaTop" r="textAreaRight" b="textAreaBottom"/>
              <a:pathLst>
                <a:path w="490855" h="650239">
                  <a:moveTo>
                    <a:pt x="490718" y="0"/>
                  </a:moveTo>
                  <a:lnTo>
                    <a:pt x="0" y="0"/>
                  </a:lnTo>
                  <a:lnTo>
                    <a:pt x="0" y="649875"/>
                  </a:lnTo>
                  <a:lnTo>
                    <a:pt x="240013" y="649875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63" name="object 11"/>
            <p:cNvSpPr/>
            <p:nvPr/>
          </p:nvSpPr>
          <p:spPr>
            <a:xfrm>
              <a:off x="358920" y="1389240"/>
              <a:ext cx="406800" cy="586080"/>
            </a:xfrm>
            <a:custGeom>
              <a:avLst/>
              <a:gdLst>
                <a:gd name="textAreaLeft" fmla="*/ 0 w 406800"/>
                <a:gd name="textAreaRight" fmla="*/ 407520 w 406800"/>
                <a:gd name="textAreaTop" fmla="*/ 0 h 586080"/>
                <a:gd name="textAreaBottom" fmla="*/ 586800 h 586080"/>
              </a:gdLst>
              <a:ahLst/>
              <a:rect l="textAreaLeft" t="textAreaTop" r="textAreaRight" b="textAreaBottom"/>
              <a:pathLst>
                <a:path w="681355" h="981075">
                  <a:moveTo>
                    <a:pt x="341790" y="980912"/>
                  </a:moveTo>
                  <a:lnTo>
                    <a:pt x="314932" y="980912"/>
                  </a:lnTo>
                  <a:lnTo>
                    <a:pt x="314932" y="880580"/>
                  </a:lnTo>
                  <a:lnTo>
                    <a:pt x="100447" y="880580"/>
                  </a:lnTo>
                  <a:lnTo>
                    <a:pt x="100447" y="666335"/>
                  </a:lnTo>
                  <a:lnTo>
                    <a:pt x="0" y="666335"/>
                  </a:lnTo>
                  <a:lnTo>
                    <a:pt x="0" y="601824"/>
                  </a:lnTo>
                  <a:lnTo>
                    <a:pt x="100447" y="601824"/>
                  </a:lnTo>
                  <a:lnTo>
                    <a:pt x="100447" y="379087"/>
                  </a:lnTo>
                  <a:lnTo>
                    <a:pt x="0" y="379087"/>
                  </a:lnTo>
                  <a:lnTo>
                    <a:pt x="0" y="314566"/>
                  </a:lnTo>
                  <a:lnTo>
                    <a:pt x="100447" y="314566"/>
                  </a:lnTo>
                  <a:lnTo>
                    <a:pt x="100447" y="100332"/>
                  </a:lnTo>
                  <a:lnTo>
                    <a:pt x="314932" y="100332"/>
                  </a:lnTo>
                  <a:lnTo>
                    <a:pt x="314932" y="0"/>
                  </a:lnTo>
                  <a:lnTo>
                    <a:pt x="379517" y="0"/>
                  </a:lnTo>
                  <a:lnTo>
                    <a:pt x="379517" y="100332"/>
                  </a:lnTo>
                  <a:lnTo>
                    <a:pt x="602505" y="100332"/>
                  </a:lnTo>
                  <a:lnTo>
                    <a:pt x="602505" y="0"/>
                  </a:lnTo>
                  <a:lnTo>
                    <a:pt x="667100" y="0"/>
                  </a:lnTo>
                  <a:lnTo>
                    <a:pt x="667100" y="100332"/>
                  </a:lnTo>
                  <a:lnTo>
                    <a:pt x="681172" y="100332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64" name="object 12"/>
            <p:cNvSpPr/>
            <p:nvPr/>
          </p:nvSpPr>
          <p:spPr>
            <a:xfrm>
              <a:off x="586440" y="1616760"/>
              <a:ext cx="113040" cy="130680"/>
            </a:xfrm>
            <a:custGeom>
              <a:avLst/>
              <a:gdLst>
                <a:gd name="textAreaLeft" fmla="*/ 0 w 113040"/>
                <a:gd name="textAreaRight" fmla="*/ 113760 w 113040"/>
                <a:gd name="textAreaTop" fmla="*/ 0 h 130680"/>
                <a:gd name="textAreaBottom" fmla="*/ 131400 h 130680"/>
              </a:gdLst>
              <a:ahLst/>
              <a:rect l="textAreaLeft" t="textAreaTop" r="textAreaRight" b="textAreaBottom"/>
              <a:pathLst>
                <a:path w="190500" h="219710">
                  <a:moveTo>
                    <a:pt x="0" y="219658"/>
                  </a:moveTo>
                  <a:lnTo>
                    <a:pt x="105965" y="219658"/>
                  </a:lnTo>
                  <a:lnTo>
                    <a:pt x="189899" y="0"/>
                  </a:lnTo>
                  <a:lnTo>
                    <a:pt x="0" y="0"/>
                  </a:lnTo>
                  <a:lnTo>
                    <a:pt x="0" y="219658"/>
                  </a:lnTo>
                  <a:close/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65" name="object 13"/>
            <p:cNvSpPr/>
            <p:nvPr/>
          </p:nvSpPr>
          <p:spPr>
            <a:xfrm>
              <a:off x="51624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66" name="object 14"/>
            <p:cNvSpPr/>
            <p:nvPr/>
          </p:nvSpPr>
          <p:spPr>
            <a:xfrm>
              <a:off x="56196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67" name="object 15"/>
            <p:cNvSpPr/>
            <p:nvPr/>
          </p:nvSpPr>
          <p:spPr>
            <a:xfrm>
              <a:off x="60768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183e5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68" name="object 16"/>
            <p:cNvSpPr/>
            <p:nvPr/>
          </p:nvSpPr>
          <p:spPr>
            <a:xfrm>
              <a:off x="607680" y="1264680"/>
              <a:ext cx="411120" cy="835560"/>
            </a:xfrm>
            <a:custGeom>
              <a:avLst/>
              <a:gdLst>
                <a:gd name="textAreaLeft" fmla="*/ 0 w 411120"/>
                <a:gd name="textAreaRight" fmla="*/ 411840 w 4111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688339" h="1398270">
                  <a:moveTo>
                    <a:pt x="535837" y="0"/>
                  </a:moveTo>
                  <a:lnTo>
                    <a:pt x="0" y="1398020"/>
                  </a:lnTo>
                </a:path>
                <a:path w="688339" h="1398270">
                  <a:moveTo>
                    <a:pt x="687979" y="0"/>
                  </a:moveTo>
                  <a:lnTo>
                    <a:pt x="152141" y="139802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69" name="object 17"/>
            <p:cNvSpPr/>
            <p:nvPr/>
          </p:nvSpPr>
          <p:spPr>
            <a:xfrm>
              <a:off x="65340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</p:grpSp>
      <p:pic>
        <p:nvPicPr>
          <p:cNvPr id="70" name="Picture 2" descr=""/>
          <p:cNvPicPr/>
          <p:nvPr/>
        </p:nvPicPr>
        <p:blipFill>
          <a:blip r:embed="rId6"/>
          <a:stretch/>
        </p:blipFill>
        <p:spPr>
          <a:xfrm>
            <a:off x="334440" y="333360"/>
            <a:ext cx="1774800" cy="125640"/>
          </a:xfrm>
          <a:prstGeom prst="rect">
            <a:avLst/>
          </a:prstGeom>
          <a:ln w="0">
            <a:noFill/>
          </a:ln>
        </p:spPr>
      </p:pic>
      <p:pic>
        <p:nvPicPr>
          <p:cNvPr id="71" name="Graphic 4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704160" y="6408000"/>
            <a:ext cx="2134800" cy="168120"/>
          </a:xfrm>
          <a:prstGeom prst="rect">
            <a:avLst/>
          </a:prstGeom>
          <a:ln w="0">
            <a:noFill/>
          </a:ln>
        </p:spPr>
      </p:pic>
      <p:sp>
        <p:nvSpPr>
          <p:cNvPr id="72" name="hcSlideMaster87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hcSlideMaster169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hcSlideMaster68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hcSlideMaster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8000"/>
                </a:solidFill>
                <a:latin typeface="Microsoft Sans Serif"/>
              </a:rPr>
              <a:t>Public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hcSlideMaster253.1_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hcSlideMaster.1_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9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hcSlideMaster.Large audienc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hcSlideMaster.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233280" y="631080"/>
            <a:ext cx="11957760" cy="44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ftr" idx="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sldNum" idx="4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261A16-0C31-48B3-A835-58EE86BE1501}" type="slidenum"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dt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bg object 54"/>
          <p:cNvSpPr/>
          <p:nvPr/>
        </p:nvSpPr>
        <p:spPr>
          <a:xfrm>
            <a:off x="0" y="520200"/>
            <a:ext cx="58680" cy="46440"/>
          </a:xfrm>
          <a:custGeom>
            <a:avLst/>
            <a:gdLst>
              <a:gd name="textAreaLeft" fmla="*/ 0 w 58680"/>
              <a:gd name="textAreaRight" fmla="*/ 59400 w 58680"/>
              <a:gd name="textAreaTop" fmla="*/ 0 h 46440"/>
              <a:gd name="textAreaBottom" fmla="*/ 47160 h 46440"/>
            </a:gdLst>
            <a:ahLst/>
            <a:rect l="textAreaLeft" t="textAreaTop" r="textAreaRight" b="textAreaBottom"/>
            <a:pathLst>
              <a:path w="52069" h="52070">
                <a:moveTo>
                  <a:pt x="51803" y="0"/>
                </a:moveTo>
                <a:lnTo>
                  <a:pt x="0" y="0"/>
                </a:lnTo>
                <a:lnTo>
                  <a:pt x="0" y="51803"/>
                </a:lnTo>
                <a:lnTo>
                  <a:pt x="51803" y="51803"/>
                </a:lnTo>
                <a:lnTo>
                  <a:pt x="51803" y="0"/>
                </a:lnTo>
                <a:close/>
              </a:path>
            </a:pathLst>
          </a:custGeom>
          <a:solidFill>
            <a:srgbClr val="babcbe">
              <a:alpha val="19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629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88" name="hcSlideMaster.Title and Content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13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90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91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92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93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94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95" name="TextBox 22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Graphic 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97" name="Picture 3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98" name="hcSlideMaster.Title only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sldNum" idx="6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7218D3-D52A-444A-A516-A7D51991471C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7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8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101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102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103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104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05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106" name="Picture 14" descr=""/>
          <p:cNvPicPr/>
          <p:nvPr/>
        </p:nvPicPr>
        <p:blipFill>
          <a:blip r:embed="rId4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107" name="TextBox 15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Graphic 1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sp>
        <p:nvSpPr>
          <p:cNvPr id="109" name="hcSlideMaster.6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hcSlideMaster.7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7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6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112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113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114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115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6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17" name="TextBox 12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0000b3"/>
                </a:solidFill>
                <a:latin typeface="DM Sans"/>
              </a:rPr>
              <a:t>© Copyright 2023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Graphic 1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119" name="Picture 1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120" name="Title 1"/>
          <p:cNvSpPr/>
          <p:nvPr/>
        </p:nvSpPr>
        <p:spPr>
          <a:xfrm>
            <a:off x="905040" y="849240"/>
            <a:ext cx="1172664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GB" sz="2800" spc="-1" strike="noStrike">
                <a:solidFill>
                  <a:srgbClr val="0000b3"/>
                </a:solidFill>
                <a:latin typeface="DM Sans"/>
              </a:rPr>
              <a:t>Safety Pause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Placeholder 6"/>
          <p:cNvSpPr/>
          <p:nvPr/>
        </p:nvSpPr>
        <p:spPr>
          <a:xfrm>
            <a:off x="245520" y="1783800"/>
            <a:ext cx="35596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rgbClr val="10c6b3"/>
                </a:solidFill>
                <a:latin typeface="DM Sans"/>
              </a:rPr>
              <a:t>SAFETY AT HOME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Placeholder 6"/>
          <p:cNvSpPr/>
          <p:nvPr/>
        </p:nvSpPr>
        <p:spPr>
          <a:xfrm>
            <a:off x="3613680" y="964440"/>
            <a:ext cx="35596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rgbClr val="10c6b3"/>
                </a:solidFill>
                <a:latin typeface="DM Sans"/>
              </a:rPr>
              <a:t>SAFETY MEASURES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Placeholder 6"/>
          <p:cNvSpPr/>
          <p:nvPr/>
        </p:nvSpPr>
        <p:spPr>
          <a:xfrm>
            <a:off x="1010880" y="2322000"/>
            <a:ext cx="279432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2" spcCol="252000"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1"/>
                </a:solidFill>
                <a:latin typeface="DM Sans"/>
              </a:rPr>
              <a:t>COVID-19 Precaution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19"/>
          <p:cNvSpPr/>
          <p:nvPr/>
        </p:nvSpPr>
        <p:spPr>
          <a:xfrm>
            <a:off x="1010880" y="3364200"/>
            <a:ext cx="209880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Look out for any Fire Alarm. Also, please be aware of emergency exits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20"/>
          <p:cNvSpPr/>
          <p:nvPr/>
        </p:nvSpPr>
        <p:spPr>
          <a:xfrm>
            <a:off x="1010880" y="4847760"/>
            <a:ext cx="1962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Take care of your posture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Picture 21" descr=""/>
          <p:cNvPicPr/>
          <p:nvPr/>
        </p:nvPicPr>
        <p:blipFill>
          <a:blip r:embed="rId7"/>
          <a:stretch/>
        </p:blipFill>
        <p:spPr>
          <a:xfrm>
            <a:off x="333360" y="798480"/>
            <a:ext cx="570960" cy="596880"/>
          </a:xfrm>
          <a:prstGeom prst="rect">
            <a:avLst/>
          </a:prstGeom>
          <a:ln w="0">
            <a:noFill/>
          </a:ln>
        </p:spPr>
      </p:pic>
      <p:pic>
        <p:nvPicPr>
          <p:cNvPr id="127" name="Picture 22" descr=""/>
          <p:cNvPicPr/>
          <p:nvPr/>
        </p:nvPicPr>
        <p:blipFill>
          <a:blip r:embed="rId8"/>
          <a:stretch/>
        </p:blipFill>
        <p:spPr>
          <a:xfrm>
            <a:off x="333360" y="2242800"/>
            <a:ext cx="632160" cy="473760"/>
          </a:xfrm>
          <a:prstGeom prst="rect">
            <a:avLst/>
          </a:prstGeom>
          <a:ln w="0">
            <a:noFill/>
          </a:ln>
        </p:spPr>
      </p:pic>
      <p:pic>
        <p:nvPicPr>
          <p:cNvPr id="128" name="Picture 23" descr=""/>
          <p:cNvPicPr/>
          <p:nvPr/>
        </p:nvPicPr>
        <p:blipFill>
          <a:blip r:embed="rId9"/>
          <a:stretch/>
        </p:blipFill>
        <p:spPr>
          <a:xfrm>
            <a:off x="333360" y="3442320"/>
            <a:ext cx="556200" cy="528120"/>
          </a:xfrm>
          <a:prstGeom prst="rect">
            <a:avLst/>
          </a:prstGeom>
          <a:ln w="0">
            <a:noFill/>
          </a:ln>
        </p:spPr>
      </p:pic>
      <p:pic>
        <p:nvPicPr>
          <p:cNvPr id="129" name="Picture 24" descr=""/>
          <p:cNvPicPr/>
          <p:nvPr/>
        </p:nvPicPr>
        <p:blipFill>
          <a:blip r:embed="rId10"/>
          <a:stretch/>
        </p:blipFill>
        <p:spPr>
          <a:xfrm>
            <a:off x="333360" y="4772880"/>
            <a:ext cx="465840" cy="575640"/>
          </a:xfrm>
          <a:prstGeom prst="rect">
            <a:avLst/>
          </a:prstGeom>
          <a:ln w="0">
            <a:noFill/>
          </a:ln>
        </p:spPr>
      </p:pic>
      <p:sp>
        <p:nvSpPr>
          <p:cNvPr id="130" name="TextBox 25"/>
          <p:cNvSpPr/>
          <p:nvPr/>
        </p:nvSpPr>
        <p:spPr>
          <a:xfrm>
            <a:off x="3613320" y="2042280"/>
            <a:ext cx="355968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In case you are using a headset, please ensure the volume is such that you can hear fire alarms.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Look out for any Fire Alarm. Please be aware of emergency exits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26"/>
          <p:cNvSpPr/>
          <p:nvPr/>
        </p:nvSpPr>
        <p:spPr>
          <a:xfrm>
            <a:off x="3613680" y="3982320"/>
            <a:ext cx="2658960" cy="15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Keep your family members / fellow colleagues informed about where you are working so that they can alert you in case of any emergency. Please be aware of emergency contacts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Picture 27" descr=""/>
          <p:cNvPicPr/>
          <p:nvPr/>
        </p:nvPicPr>
        <p:blipFill>
          <a:blip r:embed="rId11"/>
          <a:stretch/>
        </p:blipFill>
        <p:spPr>
          <a:xfrm>
            <a:off x="3703680" y="3419280"/>
            <a:ext cx="762120" cy="512640"/>
          </a:xfrm>
          <a:prstGeom prst="rect">
            <a:avLst/>
          </a:prstGeom>
          <a:ln w="0">
            <a:noFill/>
          </a:ln>
        </p:spPr>
      </p:pic>
      <p:pic>
        <p:nvPicPr>
          <p:cNvPr id="133" name="Picture 28" descr=""/>
          <p:cNvPicPr/>
          <p:nvPr/>
        </p:nvPicPr>
        <p:blipFill>
          <a:blip r:embed="rId12"/>
          <a:stretch/>
        </p:blipFill>
        <p:spPr>
          <a:xfrm>
            <a:off x="3703680" y="1422000"/>
            <a:ext cx="536760" cy="578880"/>
          </a:xfrm>
          <a:prstGeom prst="rect">
            <a:avLst/>
          </a:prstGeom>
          <a:ln w="0">
            <a:noFill/>
          </a:ln>
        </p:spPr>
      </p:pic>
      <p:cxnSp>
        <p:nvCxnSpPr>
          <p:cNvPr id="134" name="Straight Connector 29"/>
          <p:cNvCxnSpPr/>
          <p:nvPr/>
        </p:nvCxnSpPr>
        <p:spPr>
          <a:xfrm>
            <a:off x="3211560" y="1579680"/>
            <a:ext cx="720" cy="4079880"/>
          </a:xfrm>
          <a:prstGeom prst="straightConnector1">
            <a:avLst/>
          </a:prstGeom>
          <a:ln w="0">
            <a:solidFill>
              <a:srgbClr val="bfbfbf"/>
            </a:solidFill>
          </a:ln>
        </p:spPr>
      </p:cxnSp>
      <p:sp>
        <p:nvSpPr>
          <p:cNvPr id="135" name="hcSlideMaster125.Safety Paus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hcSlideMaster.Safety Paus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1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roup 15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138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139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140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141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42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43" name="TextBox 24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2023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Graphic 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145" name="Picture 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146" name="hcSlideMaster87.Content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hcSlideMaster125.Content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hcSlideMaster.Content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1"/>
          <p:cNvSpPr>
            <a:spLocks noGrp="1"/>
          </p:cNvSpPr>
          <p:nvPr>
            <p:ph type="sldNum" idx="7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87B7A8-8052-476B-93AA-7EC208E5E265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7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roup 16"/>
          <p:cNvGrpSpPr/>
          <p:nvPr/>
        </p:nvGrpSpPr>
        <p:grpSpPr>
          <a:xfrm>
            <a:off x="11084040" y="316800"/>
            <a:ext cx="761040" cy="157320"/>
            <a:chOff x="11084040" y="316800"/>
            <a:chExt cx="761040" cy="157320"/>
          </a:xfrm>
        </p:grpSpPr>
        <p:sp>
          <p:nvSpPr>
            <p:cNvPr id="151" name="object 6"/>
            <p:cNvSpPr/>
            <p:nvPr/>
          </p:nvSpPr>
          <p:spPr>
            <a:xfrm>
              <a:off x="1146744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52" name="object 7"/>
            <p:cNvSpPr/>
            <p:nvPr/>
          </p:nvSpPr>
          <p:spPr>
            <a:xfrm>
              <a:off x="1170288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153" name="object 8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154" name="object 9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155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56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57" name="object 22"/>
            <p:cNvSpPr/>
            <p:nvPr/>
          </p:nvSpPr>
          <p:spPr>
            <a:xfrm>
              <a:off x="11363760" y="33876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158" name="object 23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159" name="object 24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160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61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62" name="TextBox 35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63" name="object 8"/>
          <p:cNvGrpSpPr/>
          <p:nvPr/>
        </p:nvGrpSpPr>
        <p:grpSpPr>
          <a:xfrm>
            <a:off x="358920" y="1264680"/>
            <a:ext cx="659880" cy="835560"/>
            <a:chOff x="358920" y="1264680"/>
            <a:chExt cx="659880" cy="835560"/>
          </a:xfrm>
        </p:grpSpPr>
        <p:sp>
          <p:nvSpPr>
            <p:cNvPr id="164" name="object 9"/>
            <p:cNvSpPr/>
            <p:nvPr/>
          </p:nvSpPr>
          <p:spPr>
            <a:xfrm>
              <a:off x="547920" y="1578240"/>
              <a:ext cx="168120" cy="208080"/>
            </a:xfrm>
            <a:custGeom>
              <a:avLst/>
              <a:gdLst>
                <a:gd name="textAreaLeft" fmla="*/ 0 w 168120"/>
                <a:gd name="textAreaRight" fmla="*/ 168840 w 168120"/>
                <a:gd name="textAreaTop" fmla="*/ 0 h 208080"/>
                <a:gd name="textAreaBottom" fmla="*/ 208800 h 208080"/>
              </a:gdLst>
              <a:ahLst/>
              <a:rect l="textAreaLeft" t="textAreaTop" r="textAreaRight" b="textAreaBottom"/>
              <a:pathLst>
                <a:path w="282575" h="349250">
                  <a:moveTo>
                    <a:pt x="147482" y="349204"/>
                  </a:moveTo>
                  <a:lnTo>
                    <a:pt x="0" y="349204"/>
                  </a:lnTo>
                  <a:lnTo>
                    <a:pt x="0" y="0"/>
                  </a:lnTo>
                  <a:lnTo>
                    <a:pt x="282504" y="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65" name="object 10"/>
            <p:cNvSpPr/>
            <p:nvPr/>
          </p:nvSpPr>
          <p:spPr>
            <a:xfrm>
              <a:off x="457920" y="1488240"/>
              <a:ext cx="293040" cy="388080"/>
            </a:xfrm>
            <a:custGeom>
              <a:avLst/>
              <a:gdLst>
                <a:gd name="textAreaLeft" fmla="*/ 0 w 293040"/>
                <a:gd name="textAreaRight" fmla="*/ 293760 w 293040"/>
                <a:gd name="textAreaTop" fmla="*/ 0 h 388080"/>
                <a:gd name="textAreaBottom" fmla="*/ 388800 h 388080"/>
              </a:gdLst>
              <a:ahLst/>
              <a:rect l="textAreaLeft" t="textAreaTop" r="textAreaRight" b="textAreaBottom"/>
              <a:pathLst>
                <a:path w="490855" h="650239">
                  <a:moveTo>
                    <a:pt x="490718" y="0"/>
                  </a:moveTo>
                  <a:lnTo>
                    <a:pt x="0" y="0"/>
                  </a:lnTo>
                  <a:lnTo>
                    <a:pt x="0" y="649875"/>
                  </a:lnTo>
                  <a:lnTo>
                    <a:pt x="240013" y="649875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66" name="object 11"/>
            <p:cNvSpPr/>
            <p:nvPr/>
          </p:nvSpPr>
          <p:spPr>
            <a:xfrm>
              <a:off x="358920" y="1389240"/>
              <a:ext cx="406800" cy="586080"/>
            </a:xfrm>
            <a:custGeom>
              <a:avLst/>
              <a:gdLst>
                <a:gd name="textAreaLeft" fmla="*/ 0 w 406800"/>
                <a:gd name="textAreaRight" fmla="*/ 407520 w 406800"/>
                <a:gd name="textAreaTop" fmla="*/ 0 h 586080"/>
                <a:gd name="textAreaBottom" fmla="*/ 586800 h 586080"/>
              </a:gdLst>
              <a:ahLst/>
              <a:rect l="textAreaLeft" t="textAreaTop" r="textAreaRight" b="textAreaBottom"/>
              <a:pathLst>
                <a:path w="681355" h="981075">
                  <a:moveTo>
                    <a:pt x="341790" y="980912"/>
                  </a:moveTo>
                  <a:lnTo>
                    <a:pt x="314932" y="980912"/>
                  </a:lnTo>
                  <a:lnTo>
                    <a:pt x="314932" y="880580"/>
                  </a:lnTo>
                  <a:lnTo>
                    <a:pt x="100447" y="880580"/>
                  </a:lnTo>
                  <a:lnTo>
                    <a:pt x="100447" y="666335"/>
                  </a:lnTo>
                  <a:lnTo>
                    <a:pt x="0" y="666335"/>
                  </a:lnTo>
                  <a:lnTo>
                    <a:pt x="0" y="601824"/>
                  </a:lnTo>
                  <a:lnTo>
                    <a:pt x="100447" y="601824"/>
                  </a:lnTo>
                  <a:lnTo>
                    <a:pt x="100447" y="379087"/>
                  </a:lnTo>
                  <a:lnTo>
                    <a:pt x="0" y="379087"/>
                  </a:lnTo>
                  <a:lnTo>
                    <a:pt x="0" y="314566"/>
                  </a:lnTo>
                  <a:lnTo>
                    <a:pt x="100447" y="314566"/>
                  </a:lnTo>
                  <a:lnTo>
                    <a:pt x="100447" y="100332"/>
                  </a:lnTo>
                  <a:lnTo>
                    <a:pt x="314932" y="100332"/>
                  </a:lnTo>
                  <a:lnTo>
                    <a:pt x="314932" y="0"/>
                  </a:lnTo>
                  <a:lnTo>
                    <a:pt x="379517" y="0"/>
                  </a:lnTo>
                  <a:lnTo>
                    <a:pt x="379517" y="100332"/>
                  </a:lnTo>
                  <a:lnTo>
                    <a:pt x="602505" y="100332"/>
                  </a:lnTo>
                  <a:lnTo>
                    <a:pt x="602505" y="0"/>
                  </a:lnTo>
                  <a:lnTo>
                    <a:pt x="667100" y="0"/>
                  </a:lnTo>
                  <a:lnTo>
                    <a:pt x="667100" y="100332"/>
                  </a:lnTo>
                  <a:lnTo>
                    <a:pt x="681172" y="100332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67" name="object 12"/>
            <p:cNvSpPr/>
            <p:nvPr/>
          </p:nvSpPr>
          <p:spPr>
            <a:xfrm>
              <a:off x="586440" y="1616760"/>
              <a:ext cx="113040" cy="130680"/>
            </a:xfrm>
            <a:custGeom>
              <a:avLst/>
              <a:gdLst>
                <a:gd name="textAreaLeft" fmla="*/ 0 w 113040"/>
                <a:gd name="textAreaRight" fmla="*/ 113760 w 113040"/>
                <a:gd name="textAreaTop" fmla="*/ 0 h 130680"/>
                <a:gd name="textAreaBottom" fmla="*/ 131400 h 130680"/>
              </a:gdLst>
              <a:ahLst/>
              <a:rect l="textAreaLeft" t="textAreaTop" r="textAreaRight" b="textAreaBottom"/>
              <a:pathLst>
                <a:path w="190500" h="219710">
                  <a:moveTo>
                    <a:pt x="0" y="219658"/>
                  </a:moveTo>
                  <a:lnTo>
                    <a:pt x="105965" y="219658"/>
                  </a:lnTo>
                  <a:lnTo>
                    <a:pt x="189899" y="0"/>
                  </a:lnTo>
                  <a:lnTo>
                    <a:pt x="0" y="0"/>
                  </a:lnTo>
                  <a:lnTo>
                    <a:pt x="0" y="219658"/>
                  </a:lnTo>
                  <a:close/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68" name="object 13"/>
            <p:cNvSpPr/>
            <p:nvPr/>
          </p:nvSpPr>
          <p:spPr>
            <a:xfrm>
              <a:off x="51624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69" name="object 14"/>
            <p:cNvSpPr/>
            <p:nvPr/>
          </p:nvSpPr>
          <p:spPr>
            <a:xfrm>
              <a:off x="56196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70" name="object 15"/>
            <p:cNvSpPr/>
            <p:nvPr/>
          </p:nvSpPr>
          <p:spPr>
            <a:xfrm>
              <a:off x="60768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183e5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71" name="object 16"/>
            <p:cNvSpPr/>
            <p:nvPr/>
          </p:nvSpPr>
          <p:spPr>
            <a:xfrm>
              <a:off x="607680" y="1264680"/>
              <a:ext cx="411120" cy="835560"/>
            </a:xfrm>
            <a:custGeom>
              <a:avLst/>
              <a:gdLst>
                <a:gd name="textAreaLeft" fmla="*/ 0 w 411120"/>
                <a:gd name="textAreaRight" fmla="*/ 411840 w 4111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688339" h="1398270">
                  <a:moveTo>
                    <a:pt x="535837" y="0"/>
                  </a:moveTo>
                  <a:lnTo>
                    <a:pt x="0" y="1398020"/>
                  </a:lnTo>
                </a:path>
                <a:path w="688339" h="1398270">
                  <a:moveTo>
                    <a:pt x="687979" y="0"/>
                  </a:moveTo>
                  <a:lnTo>
                    <a:pt x="152141" y="139802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72" name="object 17"/>
            <p:cNvSpPr/>
            <p:nvPr/>
          </p:nvSpPr>
          <p:spPr>
            <a:xfrm>
              <a:off x="65340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</p:grpSp>
      <p:pic>
        <p:nvPicPr>
          <p:cNvPr id="173" name="Picture 2" descr=""/>
          <p:cNvPicPr/>
          <p:nvPr/>
        </p:nvPicPr>
        <p:blipFill>
          <a:blip r:embed="rId6"/>
          <a:stretch/>
        </p:blipFill>
        <p:spPr>
          <a:xfrm>
            <a:off x="334440" y="333360"/>
            <a:ext cx="1774800" cy="125640"/>
          </a:xfrm>
          <a:prstGeom prst="rect">
            <a:avLst/>
          </a:prstGeom>
          <a:ln w="0">
            <a:noFill/>
          </a:ln>
        </p:spPr>
      </p:pic>
      <p:pic>
        <p:nvPicPr>
          <p:cNvPr id="174" name="Graphic 4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704160" y="6408000"/>
            <a:ext cx="2134800" cy="168120"/>
          </a:xfrm>
          <a:prstGeom prst="rect">
            <a:avLst/>
          </a:prstGeom>
          <a:ln w="0">
            <a:noFill/>
          </a:ln>
        </p:spPr>
      </p:pic>
      <p:sp>
        <p:nvSpPr>
          <p:cNvPr id="175" name="hcSlideMaster87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hcSlideMaster78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hcSlideMaster253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hcSlideMaster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9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roup 13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182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183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184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185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6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87" name="TextBox 22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Graphic 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189" name="Picture 3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190" name="hcSlideMaster.Title only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1"/>
          <p:cNvSpPr>
            <a:spLocks noGrp="1"/>
          </p:cNvSpPr>
          <p:nvPr>
            <p:ph type="sldNum" idx="8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144029-B917-4812-986A-3C1DD1C06E79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7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roup 8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193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194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195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196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97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198" name="Picture 14" descr=""/>
          <p:cNvPicPr/>
          <p:nvPr/>
        </p:nvPicPr>
        <p:blipFill>
          <a:blip r:embed="rId4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199" name="TextBox 15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0" name="Graphic 1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sp>
        <p:nvSpPr>
          <p:cNvPr id="201" name="hcSlideMaster.6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hcSlideMaster.7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7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6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204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205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206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207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08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09" name="TextBox 12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0000b3"/>
                </a:solidFill>
                <a:latin typeface="DM Sans"/>
              </a:rPr>
              <a:t>© Copyright 2023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0" name="Graphic 1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211" name="Picture 1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212" name="Title 1"/>
          <p:cNvSpPr/>
          <p:nvPr/>
        </p:nvSpPr>
        <p:spPr>
          <a:xfrm>
            <a:off x="905040" y="849240"/>
            <a:ext cx="1172664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GB" sz="2800" spc="-1" strike="noStrike">
                <a:solidFill>
                  <a:srgbClr val="0000b3"/>
                </a:solidFill>
                <a:latin typeface="DM Sans"/>
              </a:rPr>
              <a:t>Safety Pause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Placeholder 6"/>
          <p:cNvSpPr/>
          <p:nvPr/>
        </p:nvSpPr>
        <p:spPr>
          <a:xfrm>
            <a:off x="245520" y="1783800"/>
            <a:ext cx="35596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rgbClr val="10c6b3"/>
                </a:solidFill>
                <a:latin typeface="DM Sans"/>
              </a:rPr>
              <a:t>SAFETY AT HOME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Placeholder 6"/>
          <p:cNvSpPr/>
          <p:nvPr/>
        </p:nvSpPr>
        <p:spPr>
          <a:xfrm>
            <a:off x="3613680" y="964440"/>
            <a:ext cx="35596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rgbClr val="10c6b3"/>
                </a:solidFill>
                <a:latin typeface="DM Sans"/>
              </a:rPr>
              <a:t>SAFETY MEASURES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Placeholder 6"/>
          <p:cNvSpPr/>
          <p:nvPr/>
        </p:nvSpPr>
        <p:spPr>
          <a:xfrm>
            <a:off x="1010880" y="2322000"/>
            <a:ext cx="279432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2" spcCol="252000"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1"/>
                </a:solidFill>
                <a:latin typeface="DM Sans"/>
              </a:rPr>
              <a:t>COVID-19 Precaution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19"/>
          <p:cNvSpPr/>
          <p:nvPr/>
        </p:nvSpPr>
        <p:spPr>
          <a:xfrm>
            <a:off x="1010880" y="3364200"/>
            <a:ext cx="209880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Look out for any Fire Alarm. Also, please be aware of emergency exits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Box 20"/>
          <p:cNvSpPr/>
          <p:nvPr/>
        </p:nvSpPr>
        <p:spPr>
          <a:xfrm>
            <a:off x="1010880" y="4847760"/>
            <a:ext cx="1962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Take care of your posture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8" name="Picture 21" descr=""/>
          <p:cNvPicPr/>
          <p:nvPr/>
        </p:nvPicPr>
        <p:blipFill>
          <a:blip r:embed="rId7"/>
          <a:stretch/>
        </p:blipFill>
        <p:spPr>
          <a:xfrm>
            <a:off x="333360" y="798480"/>
            <a:ext cx="570960" cy="596880"/>
          </a:xfrm>
          <a:prstGeom prst="rect">
            <a:avLst/>
          </a:prstGeom>
          <a:ln w="0">
            <a:noFill/>
          </a:ln>
        </p:spPr>
      </p:pic>
      <p:pic>
        <p:nvPicPr>
          <p:cNvPr id="219" name="Picture 22" descr=""/>
          <p:cNvPicPr/>
          <p:nvPr/>
        </p:nvPicPr>
        <p:blipFill>
          <a:blip r:embed="rId8"/>
          <a:stretch/>
        </p:blipFill>
        <p:spPr>
          <a:xfrm>
            <a:off x="333360" y="2242800"/>
            <a:ext cx="632160" cy="473760"/>
          </a:xfrm>
          <a:prstGeom prst="rect">
            <a:avLst/>
          </a:prstGeom>
          <a:ln w="0">
            <a:noFill/>
          </a:ln>
        </p:spPr>
      </p:pic>
      <p:pic>
        <p:nvPicPr>
          <p:cNvPr id="220" name="Picture 23" descr=""/>
          <p:cNvPicPr/>
          <p:nvPr/>
        </p:nvPicPr>
        <p:blipFill>
          <a:blip r:embed="rId9"/>
          <a:stretch/>
        </p:blipFill>
        <p:spPr>
          <a:xfrm>
            <a:off x="333360" y="3442320"/>
            <a:ext cx="556200" cy="528120"/>
          </a:xfrm>
          <a:prstGeom prst="rect">
            <a:avLst/>
          </a:prstGeom>
          <a:ln w="0">
            <a:noFill/>
          </a:ln>
        </p:spPr>
      </p:pic>
      <p:pic>
        <p:nvPicPr>
          <p:cNvPr id="221" name="Picture 24" descr=""/>
          <p:cNvPicPr/>
          <p:nvPr/>
        </p:nvPicPr>
        <p:blipFill>
          <a:blip r:embed="rId10"/>
          <a:stretch/>
        </p:blipFill>
        <p:spPr>
          <a:xfrm>
            <a:off x="333360" y="4772880"/>
            <a:ext cx="465840" cy="575640"/>
          </a:xfrm>
          <a:prstGeom prst="rect">
            <a:avLst/>
          </a:prstGeom>
          <a:ln w="0">
            <a:noFill/>
          </a:ln>
        </p:spPr>
      </p:pic>
      <p:sp>
        <p:nvSpPr>
          <p:cNvPr id="222" name="TextBox 25"/>
          <p:cNvSpPr/>
          <p:nvPr/>
        </p:nvSpPr>
        <p:spPr>
          <a:xfrm>
            <a:off x="3613320" y="2042280"/>
            <a:ext cx="355968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In case you are using a headset, please ensure the volume is such that you can hear fire alarms.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Look out for any Fire Alarm. Please be aware of emergency exits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26"/>
          <p:cNvSpPr/>
          <p:nvPr/>
        </p:nvSpPr>
        <p:spPr>
          <a:xfrm>
            <a:off x="3613680" y="3982320"/>
            <a:ext cx="2658960" cy="15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Keep your family members / fellow colleagues informed about where you are working so that they can alert you in case of any emergency. Please be aware of emergency contacts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Picture 27" descr=""/>
          <p:cNvPicPr/>
          <p:nvPr/>
        </p:nvPicPr>
        <p:blipFill>
          <a:blip r:embed="rId11"/>
          <a:stretch/>
        </p:blipFill>
        <p:spPr>
          <a:xfrm>
            <a:off x="3703680" y="3419280"/>
            <a:ext cx="762120" cy="512640"/>
          </a:xfrm>
          <a:prstGeom prst="rect">
            <a:avLst/>
          </a:prstGeom>
          <a:ln w="0">
            <a:noFill/>
          </a:ln>
        </p:spPr>
      </p:pic>
      <p:pic>
        <p:nvPicPr>
          <p:cNvPr id="225" name="Picture 28" descr=""/>
          <p:cNvPicPr/>
          <p:nvPr/>
        </p:nvPicPr>
        <p:blipFill>
          <a:blip r:embed="rId12"/>
          <a:stretch/>
        </p:blipFill>
        <p:spPr>
          <a:xfrm>
            <a:off x="3703680" y="1422000"/>
            <a:ext cx="536760" cy="578880"/>
          </a:xfrm>
          <a:prstGeom prst="rect">
            <a:avLst/>
          </a:prstGeom>
          <a:ln w="0">
            <a:noFill/>
          </a:ln>
        </p:spPr>
      </p:pic>
      <p:cxnSp>
        <p:nvCxnSpPr>
          <p:cNvPr id="226" name="Straight Connector 29"/>
          <p:cNvCxnSpPr/>
          <p:nvPr/>
        </p:nvCxnSpPr>
        <p:spPr>
          <a:xfrm>
            <a:off x="3211560" y="1579680"/>
            <a:ext cx="720" cy="4079880"/>
          </a:xfrm>
          <a:prstGeom prst="straightConnector1">
            <a:avLst/>
          </a:prstGeom>
          <a:ln w="0">
            <a:solidFill>
              <a:srgbClr val="bfbfbf"/>
            </a:solidFill>
          </a:ln>
        </p:spPr>
      </p:cxnSp>
      <p:sp>
        <p:nvSpPr>
          <p:cNvPr id="227" name="hcSlideMaster125.Safety Paus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hcSlideMaster.Safety Paus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1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13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230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231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232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233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34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235" name="Graphic 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236" name="Picture 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237" name="TextBox 1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hcSlideMaster87.Content 3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hcSlideMaster242.Content 3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hcSlideMaster125.Content 3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hcSlideMaster.Content 3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1"/>
          <p:cNvSpPr>
            <a:spLocks noGrp="1"/>
          </p:cNvSpPr>
          <p:nvPr>
            <p:ph type="sldNum" idx="9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CCDEC9F-35C2-497B-BD12-C0E8654BCA77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7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roup 15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244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245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246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247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48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49" name="TextBox 24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2023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0" name="Graphic 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251" name="Picture 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252" name="hcSlideMaster87.Content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hcSlideMaster125.Content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hcSlideMaster.Content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1"/>
          <p:cNvSpPr>
            <a:spLocks noGrp="1"/>
          </p:cNvSpPr>
          <p:nvPr>
            <p:ph type="sldNum" idx="10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EA6B6B-D749-4636-8DA2-E3E7C6238707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7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hcSlideMaster266.10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hcSlideMaster242.10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hcSlideMaster125.10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hcSlideMaster.10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10"/>
          <p:cNvSpPr/>
          <p:nvPr/>
        </p:nvSpPr>
        <p:spPr>
          <a:xfrm>
            <a:off x="7251480" y="1105560"/>
            <a:ext cx="4937040" cy="4564800"/>
          </a:xfrm>
          <a:prstGeom prst="rect">
            <a:avLst/>
          </a:prstGeom>
          <a:solidFill>
            <a:srgbClr val="2c6e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7200" spc="-1" strike="noStrike">
              <a:solidFill>
                <a:schemeClr val="lt1"/>
              </a:solidFill>
              <a:latin typeface="DM Sans"/>
            </a:endParaRPr>
          </a:p>
        </p:txBody>
      </p:sp>
      <p:pic>
        <p:nvPicPr>
          <p:cNvPr id="261" name="Picture 1" descr=""/>
          <p:cNvPicPr/>
          <p:nvPr/>
        </p:nvPicPr>
        <p:blipFill>
          <a:blip r:embed="rId2"/>
          <a:stretch/>
        </p:blipFill>
        <p:spPr>
          <a:xfrm>
            <a:off x="7425000" y="3457080"/>
            <a:ext cx="612720" cy="527040"/>
          </a:xfrm>
          <a:prstGeom prst="rect">
            <a:avLst/>
          </a:prstGeom>
          <a:ln w="0">
            <a:noFill/>
          </a:ln>
        </p:spPr>
      </p:pic>
      <p:sp>
        <p:nvSpPr>
          <p:cNvPr id="262" name="hcSlideMaster.1_Quote_Blu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hcSlideMaster.1_Custom Layout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roup 13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265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266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267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268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9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270" name="Graphic 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271" name="Picture 3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272" name="TextBox 2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hcSlideMaster350.Content 3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hcSlideMaster.1_Content 3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1"/>
          <p:cNvSpPr>
            <a:spLocks noGrp="1"/>
          </p:cNvSpPr>
          <p:nvPr>
            <p:ph type="sldNum" idx="11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061C1C-1B48-4477-A0D7-FFEFE1A6DDC2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7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roup 16"/>
          <p:cNvGrpSpPr/>
          <p:nvPr/>
        </p:nvGrpSpPr>
        <p:grpSpPr>
          <a:xfrm>
            <a:off x="11084040" y="316800"/>
            <a:ext cx="761040" cy="157320"/>
            <a:chOff x="11084040" y="316800"/>
            <a:chExt cx="761040" cy="157320"/>
          </a:xfrm>
        </p:grpSpPr>
        <p:sp>
          <p:nvSpPr>
            <p:cNvPr id="277" name="object 6"/>
            <p:cNvSpPr/>
            <p:nvPr/>
          </p:nvSpPr>
          <p:spPr>
            <a:xfrm>
              <a:off x="1146744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278" name="object 7"/>
            <p:cNvSpPr/>
            <p:nvPr/>
          </p:nvSpPr>
          <p:spPr>
            <a:xfrm>
              <a:off x="1170288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279" name="object 8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280" name="object 9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281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82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83" name="object 22"/>
            <p:cNvSpPr/>
            <p:nvPr/>
          </p:nvSpPr>
          <p:spPr>
            <a:xfrm>
              <a:off x="11363760" y="33876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284" name="object 23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285" name="object 24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286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87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88" name="TextBox 35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89" name="object 12"/>
          <p:cNvGrpSpPr/>
          <p:nvPr/>
        </p:nvGrpSpPr>
        <p:grpSpPr>
          <a:xfrm>
            <a:off x="352440" y="1270080"/>
            <a:ext cx="659520" cy="830160"/>
            <a:chOff x="352440" y="1270080"/>
            <a:chExt cx="659520" cy="830160"/>
          </a:xfrm>
        </p:grpSpPr>
        <p:sp>
          <p:nvSpPr>
            <p:cNvPr id="290" name="object 13"/>
            <p:cNvSpPr/>
            <p:nvPr/>
          </p:nvSpPr>
          <p:spPr>
            <a:xfrm>
              <a:off x="514800" y="1270080"/>
              <a:ext cx="316440" cy="830160"/>
            </a:xfrm>
            <a:custGeom>
              <a:avLst/>
              <a:gdLst>
                <a:gd name="textAreaLeft" fmla="*/ 0 w 316440"/>
                <a:gd name="textAreaRight" fmla="*/ 317160 w 316440"/>
                <a:gd name="textAreaTop" fmla="*/ 0 h 830160"/>
                <a:gd name="textAreaBottom" fmla="*/ 830880 h 830160"/>
              </a:gdLst>
              <a:ahLst/>
              <a:rect l="textAreaLeft" t="textAreaTop" r="textAreaRight" b="textAreaBottom"/>
              <a:pathLst>
                <a:path w="528319" h="1383664">
                  <a:moveTo>
                    <a:pt x="527711" y="0"/>
                  </a:moveTo>
                  <a:lnTo>
                    <a:pt x="0" y="1383099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291" name="object 14"/>
            <p:cNvSpPr/>
            <p:nvPr/>
          </p:nvSpPr>
          <p:spPr>
            <a:xfrm>
              <a:off x="560160" y="1270080"/>
              <a:ext cx="316440" cy="830160"/>
            </a:xfrm>
            <a:custGeom>
              <a:avLst/>
              <a:gdLst>
                <a:gd name="textAreaLeft" fmla="*/ 0 w 316440"/>
                <a:gd name="textAreaRight" fmla="*/ 317160 w 316440"/>
                <a:gd name="textAreaTop" fmla="*/ 0 h 830160"/>
                <a:gd name="textAreaBottom" fmla="*/ 830880 h 830160"/>
              </a:gdLst>
              <a:ahLst/>
              <a:rect l="textAreaLeft" t="textAreaTop" r="textAreaRight" b="textAreaBottom"/>
              <a:pathLst>
                <a:path w="528319" h="1383664">
                  <a:moveTo>
                    <a:pt x="527711" y="0"/>
                  </a:moveTo>
                  <a:lnTo>
                    <a:pt x="0" y="1383099"/>
                  </a:lnTo>
                </a:path>
              </a:pathLst>
            </a:custGeom>
            <a:noFill/>
            <a:ln w="10470">
              <a:solidFill>
                <a:srgbClr val="a0cd8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292" name="object 15"/>
            <p:cNvSpPr/>
            <p:nvPr/>
          </p:nvSpPr>
          <p:spPr>
            <a:xfrm>
              <a:off x="605160" y="1270080"/>
              <a:ext cx="406800" cy="830160"/>
            </a:xfrm>
            <a:custGeom>
              <a:avLst/>
              <a:gdLst>
                <a:gd name="textAreaLeft" fmla="*/ 0 w 406800"/>
                <a:gd name="textAreaRight" fmla="*/ 407520 w 406800"/>
                <a:gd name="textAreaTop" fmla="*/ 0 h 830160"/>
                <a:gd name="textAreaBottom" fmla="*/ 830880 h 830160"/>
              </a:gdLst>
              <a:ahLst/>
              <a:rect l="textAreaLeft" t="textAreaTop" r="textAreaRight" b="textAreaBottom"/>
              <a:pathLst>
                <a:path w="678814" h="1383664">
                  <a:moveTo>
                    <a:pt x="528559" y="0"/>
                  </a:moveTo>
                  <a:lnTo>
                    <a:pt x="0" y="1383088"/>
                  </a:lnTo>
                </a:path>
                <a:path w="678814" h="1383664">
                  <a:moveTo>
                    <a:pt x="528559" y="0"/>
                  </a:moveTo>
                  <a:lnTo>
                    <a:pt x="0" y="1383088"/>
                  </a:lnTo>
                </a:path>
                <a:path w="678814" h="1383664">
                  <a:moveTo>
                    <a:pt x="678639" y="0"/>
                  </a:moveTo>
                  <a:lnTo>
                    <a:pt x="150079" y="1383088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293" name="object 16"/>
            <p:cNvSpPr/>
            <p:nvPr/>
          </p:nvSpPr>
          <p:spPr>
            <a:xfrm>
              <a:off x="650520" y="1270080"/>
              <a:ext cx="316440" cy="830160"/>
            </a:xfrm>
            <a:custGeom>
              <a:avLst/>
              <a:gdLst>
                <a:gd name="textAreaLeft" fmla="*/ 0 w 316440"/>
                <a:gd name="textAreaRight" fmla="*/ 317160 w 316440"/>
                <a:gd name="textAreaTop" fmla="*/ 0 h 830160"/>
                <a:gd name="textAreaBottom" fmla="*/ 830880 h 830160"/>
              </a:gdLst>
              <a:ahLst/>
              <a:rect l="textAreaLeft" t="textAreaTop" r="textAreaRight" b="textAreaBottom"/>
              <a:pathLst>
                <a:path w="528319" h="1383664">
                  <a:moveTo>
                    <a:pt x="527711" y="0"/>
                  </a:moveTo>
                  <a:lnTo>
                    <a:pt x="0" y="1383099"/>
                  </a:lnTo>
                </a:path>
              </a:pathLst>
            </a:custGeom>
            <a:noFill/>
            <a:ln w="10470">
              <a:solidFill>
                <a:srgbClr val="a0cd8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294" name="object 17"/>
            <p:cNvSpPr/>
            <p:nvPr/>
          </p:nvSpPr>
          <p:spPr>
            <a:xfrm>
              <a:off x="352440" y="1379880"/>
              <a:ext cx="437760" cy="626400"/>
            </a:xfrm>
            <a:custGeom>
              <a:avLst/>
              <a:gdLst>
                <a:gd name="textAreaLeft" fmla="*/ 0 w 437760"/>
                <a:gd name="textAreaRight" fmla="*/ 438480 w 437760"/>
                <a:gd name="textAreaTop" fmla="*/ 0 h 626400"/>
                <a:gd name="textAreaBottom" fmla="*/ 627120 h 626400"/>
              </a:gdLst>
              <a:ahLst/>
              <a:rect l="textAreaLeft" t="textAreaTop" r="textAreaRight" b="textAreaBottom"/>
              <a:pathLst>
                <a:path w="730250" h="1044575">
                  <a:moveTo>
                    <a:pt x="372407" y="923678"/>
                  </a:moveTo>
                  <a:lnTo>
                    <a:pt x="268630" y="923678"/>
                  </a:lnTo>
                  <a:lnTo>
                    <a:pt x="268630" y="1044355"/>
                  </a:lnTo>
                  <a:lnTo>
                    <a:pt x="6575" y="1044355"/>
                  </a:lnTo>
                  <a:lnTo>
                    <a:pt x="6575" y="429117"/>
                  </a:lnTo>
                  <a:lnTo>
                    <a:pt x="201145" y="310262"/>
                  </a:lnTo>
                  <a:lnTo>
                    <a:pt x="320555" y="0"/>
                  </a:lnTo>
                  <a:lnTo>
                    <a:pt x="729988" y="0"/>
                  </a:lnTo>
                </a:path>
                <a:path w="730250" h="1044575">
                  <a:moveTo>
                    <a:pt x="268630" y="923689"/>
                  </a:moveTo>
                  <a:lnTo>
                    <a:pt x="0" y="779913"/>
                  </a:lnTo>
                </a:path>
                <a:path w="730250" h="1044575">
                  <a:moveTo>
                    <a:pt x="201145" y="310807"/>
                  </a:moveTo>
                  <a:lnTo>
                    <a:pt x="610368" y="310807"/>
                  </a:lnTo>
                </a:path>
                <a:path w="730250" h="1044575">
                  <a:moveTo>
                    <a:pt x="201177" y="310587"/>
                  </a:moveTo>
                  <a:lnTo>
                    <a:pt x="168089" y="224631"/>
                  </a:lnTo>
                  <a:lnTo>
                    <a:pt x="49370" y="224631"/>
                  </a:lnTo>
                  <a:lnTo>
                    <a:pt x="49370" y="310838"/>
                  </a:lnTo>
                  <a:lnTo>
                    <a:pt x="201177" y="310838"/>
                  </a:lnTo>
                </a:path>
                <a:path w="730250" h="1044575">
                  <a:moveTo>
                    <a:pt x="558621" y="444834"/>
                  </a:moveTo>
                  <a:lnTo>
                    <a:pt x="357036" y="445567"/>
                  </a:lnTo>
                  <a:lnTo>
                    <a:pt x="457766" y="707287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pic>
          <p:nvPicPr>
            <p:cNvPr id="295" name="object 18" descr=""/>
            <p:cNvPicPr/>
            <p:nvPr/>
          </p:nvPicPr>
          <p:blipFill>
            <a:blip r:embed="rId6"/>
            <a:stretch/>
          </p:blipFill>
          <p:spPr>
            <a:xfrm>
              <a:off x="409320" y="1639440"/>
              <a:ext cx="111600" cy="11088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296" name="Picture 2" descr=""/>
          <p:cNvPicPr/>
          <p:nvPr/>
        </p:nvPicPr>
        <p:blipFill>
          <a:blip r:embed="rId7"/>
          <a:stretch/>
        </p:blipFill>
        <p:spPr>
          <a:xfrm>
            <a:off x="334440" y="333360"/>
            <a:ext cx="1774800" cy="125640"/>
          </a:xfrm>
          <a:prstGeom prst="rect">
            <a:avLst/>
          </a:prstGeom>
          <a:ln w="0">
            <a:noFill/>
          </a:ln>
        </p:spPr>
      </p:pic>
      <p:pic>
        <p:nvPicPr>
          <p:cNvPr id="297" name="Graphic 4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9704160" y="6408000"/>
            <a:ext cx="2134800" cy="168120"/>
          </a:xfrm>
          <a:prstGeom prst="rect">
            <a:avLst/>
          </a:prstGeom>
          <a:ln w="0">
            <a:noFill/>
          </a:ln>
        </p:spPr>
      </p:pic>
      <p:sp>
        <p:nvSpPr>
          <p:cNvPr id="298" name="hcSlideMaster350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hcSlideMaster.2_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10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roup 19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301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02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303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304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05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306" name="TextBox 2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7" name="Graphic 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308" name="Picture 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309" name="hcSlideMaster87.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hcSlideMaster169.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hcSlideMaster68.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hcSlideMaster.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8000"/>
                </a:solidFill>
                <a:latin typeface="Microsoft Sans Serif"/>
              </a:rPr>
              <a:t>Public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hcSlideMaster253.1_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hcSlideMaster.1_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1"/>
          <p:cNvSpPr>
            <a:spLocks noGrp="1"/>
          </p:cNvSpPr>
          <p:nvPr>
            <p:ph type="sldNum" idx="12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B030B4-585E-452C-BA7F-97847ED4276F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7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roup 19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317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18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319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320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21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322" name="TextBox 2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2023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3" name="Graphic 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324" name="Picture 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325" name="hcSlideMaster350.1_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hcSlideMaster.2_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1"/>
          <p:cNvSpPr>
            <a:spLocks noGrp="1"/>
          </p:cNvSpPr>
          <p:nvPr>
            <p:ph type="sldNum" idx="13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530584A-011D-4445-B205-538D38B5A7DD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7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hcSlideMaster165.DEFAULT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008000"/>
                </a:solidFill>
                <a:latin typeface="Microsoft Sans Serif"/>
              </a:rPr>
              <a:t>Public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hcSlideMaster.DEFAULT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Box 10"/>
          <p:cNvSpPr/>
          <p:nvPr/>
        </p:nvSpPr>
        <p:spPr>
          <a:xfrm>
            <a:off x="0" y="6418080"/>
            <a:ext cx="76752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fld id="{46398AFB-68BD-4718-A6B7-F7D8CE04804F}" type="slidenum">
              <a:rPr b="1" lang="en-US" sz="1200" spc="-1" strike="noStrike">
                <a:solidFill>
                  <a:srgbClr val="ffffff"/>
                </a:solidFill>
                <a:latin typeface="Poppi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31" name="Straight Connector 11"/>
          <p:cNvCxnSpPr/>
          <p:nvPr/>
        </p:nvCxnSpPr>
        <p:spPr>
          <a:xfrm>
            <a:off x="267120" y="6316200"/>
            <a:ext cx="244800" cy="720"/>
          </a:xfrm>
          <a:prstGeom prst="straightConnector1">
            <a:avLst/>
          </a:prstGeom>
          <a:ln w="12700">
            <a:solidFill>
              <a:srgbClr val="ffffff"/>
            </a:solidFill>
            <a:round/>
          </a:ln>
        </p:spPr>
      </p:cxnSp>
      <p:cxnSp>
        <p:nvCxnSpPr>
          <p:cNvPr id="332" name="Straight Connector 12"/>
          <p:cNvCxnSpPr/>
          <p:nvPr/>
        </p:nvCxnSpPr>
        <p:spPr>
          <a:xfrm>
            <a:off x="261720" y="1025640"/>
            <a:ext cx="245160" cy="720"/>
          </a:xfrm>
          <a:prstGeom prst="straightConnector1">
            <a:avLst/>
          </a:prstGeom>
          <a:ln w="12700">
            <a:solidFill>
              <a:srgbClr val="ffffff"/>
            </a:solidFill>
            <a:round/>
          </a:ln>
        </p:spPr>
      </p:cxnSp>
      <p:sp>
        <p:nvSpPr>
          <p:cNvPr id="333" name="hcSlideMaster.Doc - 2 columns without subheading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GB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roup 13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335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36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337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338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39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340" name="Graphic 1" descr=""/>
          <p:cNvPicPr/>
          <p:nvPr/>
        </p:nvPicPr>
        <p:blipFill>
          <a:blip r:embed="rId4"/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341" name="Picture 3" descr=""/>
          <p:cNvPicPr/>
          <p:nvPr/>
        </p:nvPicPr>
        <p:blipFill>
          <a:blip r:embed="rId5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342" name="TextBox 6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hcSlideMaster160.Title only final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GB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hcSlideMaster334.Title only final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GB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hcSlideMaster.Title only final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GB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1"/>
          <p:cNvSpPr>
            <a:spLocks noGrp="1"/>
          </p:cNvSpPr>
          <p:nvPr>
            <p:ph type="sldNum" idx="14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BABE0D-A4B2-40D2-9712-9B5689DF8308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6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bg object 16" descr=""/>
          <p:cNvPicPr/>
          <p:nvPr/>
        </p:nvPicPr>
        <p:blipFill>
          <a:blip r:embed="rId2"/>
          <a:stretch/>
        </p:blipFill>
        <p:spPr>
          <a:xfrm>
            <a:off x="9698760" y="6413040"/>
            <a:ext cx="2139120" cy="169920"/>
          </a:xfrm>
          <a:prstGeom prst="rect">
            <a:avLst/>
          </a:prstGeom>
          <a:ln w="0">
            <a:noFill/>
          </a:ln>
        </p:spPr>
      </p:pic>
      <p:pic>
        <p:nvPicPr>
          <p:cNvPr id="348" name="bg object 17" descr=""/>
          <p:cNvPicPr/>
          <p:nvPr/>
        </p:nvPicPr>
        <p:blipFill>
          <a:blip r:embed="rId3"/>
          <a:stretch/>
        </p:blipFill>
        <p:spPr>
          <a:xfrm>
            <a:off x="11363760" y="338400"/>
            <a:ext cx="481320" cy="119160"/>
          </a:xfrm>
          <a:prstGeom prst="rect">
            <a:avLst/>
          </a:prstGeom>
          <a:ln w="0">
            <a:noFill/>
          </a:ln>
        </p:spPr>
      </p:pic>
      <p:pic>
        <p:nvPicPr>
          <p:cNvPr id="349" name="bg object 18" descr=""/>
          <p:cNvPicPr/>
          <p:nvPr/>
        </p:nvPicPr>
        <p:blipFill>
          <a:blip r:embed="rId4"/>
          <a:stretch/>
        </p:blipFill>
        <p:spPr>
          <a:xfrm>
            <a:off x="11090520" y="316440"/>
            <a:ext cx="222840" cy="156960"/>
          </a:xfrm>
          <a:prstGeom prst="rect">
            <a:avLst/>
          </a:prstGeom>
          <a:ln w="0">
            <a:noFill/>
          </a:ln>
        </p:spPr>
      </p:pic>
      <p:pic>
        <p:nvPicPr>
          <p:cNvPr id="350" name="bg object 19" descr=""/>
          <p:cNvPicPr/>
          <p:nvPr/>
        </p:nvPicPr>
        <p:blipFill>
          <a:blip r:embed="rId5"/>
          <a:stretch/>
        </p:blipFill>
        <p:spPr>
          <a:xfrm>
            <a:off x="11223360" y="372240"/>
            <a:ext cx="96480" cy="96840"/>
          </a:xfrm>
          <a:prstGeom prst="rect">
            <a:avLst/>
          </a:prstGeom>
          <a:ln w="0">
            <a:noFill/>
          </a:ln>
        </p:spPr>
      </p:pic>
      <p:pic>
        <p:nvPicPr>
          <p:cNvPr id="351" name="bg object 20" descr=""/>
          <p:cNvPicPr/>
          <p:nvPr/>
        </p:nvPicPr>
        <p:blipFill>
          <a:blip r:embed="rId6"/>
          <a:stretch/>
        </p:blipFill>
        <p:spPr>
          <a:xfrm>
            <a:off x="11084040" y="372240"/>
            <a:ext cx="96120" cy="96840"/>
          </a:xfrm>
          <a:prstGeom prst="rect">
            <a:avLst/>
          </a:prstGeom>
          <a:ln w="0">
            <a:noFill/>
          </a:ln>
        </p:spPr>
      </p:pic>
      <p:pic>
        <p:nvPicPr>
          <p:cNvPr id="352" name="bg object 21" descr=""/>
          <p:cNvPicPr/>
          <p:nvPr/>
        </p:nvPicPr>
        <p:blipFill>
          <a:blip r:embed="rId7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353" name="hcSlideMaster576.Two Content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hcSlideMaster98.Two Content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008000"/>
                </a:solidFill>
                <a:latin typeface="Microsoft Sans Serif"/>
              </a:rPr>
              <a:t>Public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hcSlideMaster.Two Content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233280" y="631080"/>
            <a:ext cx="11957760" cy="44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ftr" idx="15"/>
          </p:nvPr>
        </p:nvSpPr>
        <p:spPr>
          <a:xfrm>
            <a:off x="515880" y="6394680"/>
            <a:ext cx="3935520" cy="9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  <a:defRPr b="0" lang="en-US" sz="600" spc="-1" strike="noStrike">
                <a:solidFill>
                  <a:srgbClr val="0000b3"/>
                </a:solidFill>
                <a:latin typeface="Microsoft Sans Serif"/>
              </a:defRPr>
            </a:lvl1pPr>
          </a:lstStyle>
          <a:p>
            <a:pPr marL="12600" indent="0" defTabSz="91440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en-US" sz="600" spc="-1" strike="noStrike">
                <a:solidFill>
                  <a:srgbClr val="0000b3"/>
                </a:solidFill>
                <a:latin typeface="Microsoft Sans Serif"/>
              </a:rPr>
              <a:t>&lt;footer&gt;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8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1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Box 15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lt1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hcSlideMaster.6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3" name="Group 2"/>
          <p:cNvGrpSpPr/>
          <p:nvPr/>
        </p:nvGrpSpPr>
        <p:grpSpPr>
          <a:xfrm>
            <a:off x="11170440" y="295200"/>
            <a:ext cx="760680" cy="157320"/>
            <a:chOff x="11170440" y="295200"/>
            <a:chExt cx="760680" cy="157320"/>
          </a:xfrm>
        </p:grpSpPr>
        <p:sp>
          <p:nvSpPr>
            <p:cNvPr id="364" name="object 6"/>
            <p:cNvSpPr/>
            <p:nvPr/>
          </p:nvSpPr>
          <p:spPr>
            <a:xfrm>
              <a:off x="11553480" y="3171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365" name="object 7"/>
            <p:cNvSpPr/>
            <p:nvPr/>
          </p:nvSpPr>
          <p:spPr>
            <a:xfrm>
              <a:off x="11788920" y="3171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66" name="object 8"/>
            <p:cNvGrpSpPr/>
            <p:nvPr/>
          </p:nvGrpSpPr>
          <p:grpSpPr>
            <a:xfrm>
              <a:off x="11170440" y="295200"/>
              <a:ext cx="235800" cy="157320"/>
              <a:chOff x="11170440" y="295200"/>
              <a:chExt cx="235800" cy="157320"/>
            </a:xfrm>
          </p:grpSpPr>
          <p:sp>
            <p:nvSpPr>
              <p:cNvPr id="367" name="object 9"/>
              <p:cNvSpPr/>
              <p:nvPr/>
            </p:nvSpPr>
            <p:spPr>
              <a:xfrm>
                <a:off x="11176920" y="2952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368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309760" y="3510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69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170440" y="3510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370" name="object 22"/>
            <p:cNvSpPr/>
            <p:nvPr/>
          </p:nvSpPr>
          <p:spPr>
            <a:xfrm>
              <a:off x="11449800" y="31716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71" name="object 23"/>
            <p:cNvGrpSpPr/>
            <p:nvPr/>
          </p:nvGrpSpPr>
          <p:grpSpPr>
            <a:xfrm>
              <a:off x="11170440" y="295200"/>
              <a:ext cx="235800" cy="157320"/>
              <a:chOff x="11170440" y="295200"/>
              <a:chExt cx="235800" cy="157320"/>
            </a:xfrm>
          </p:grpSpPr>
          <p:sp>
            <p:nvSpPr>
              <p:cNvPr id="372" name="object 24"/>
              <p:cNvSpPr/>
              <p:nvPr/>
            </p:nvSpPr>
            <p:spPr>
              <a:xfrm>
                <a:off x="11176920" y="2952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373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309760" y="3510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74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170440" y="3510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375" name="Picture 24" descr=""/>
          <p:cNvPicPr/>
          <p:nvPr/>
        </p:nvPicPr>
        <p:blipFill>
          <a:blip r:embed="rId6"/>
          <a:stretch/>
        </p:blipFill>
        <p:spPr>
          <a:xfrm>
            <a:off x="264240" y="317160"/>
            <a:ext cx="1774800" cy="125640"/>
          </a:xfrm>
          <a:prstGeom prst="rect">
            <a:avLst/>
          </a:prstGeom>
          <a:ln w="0">
            <a:noFill/>
          </a:ln>
        </p:spPr>
      </p:pic>
      <p:pic>
        <p:nvPicPr>
          <p:cNvPr id="376" name="Graphic 25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788760" y="6501960"/>
            <a:ext cx="2134800" cy="168120"/>
          </a:xfrm>
          <a:prstGeom prst="rect">
            <a:avLst/>
          </a:prstGeom>
          <a:ln w="0">
            <a:noFill/>
          </a:ln>
        </p:spPr>
      </p:pic>
      <p:sp>
        <p:nvSpPr>
          <p:cNvPr id="377" name="hcSlideMaster242.9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hcSlideMaster125.9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hcSlideMaster.9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9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roup 14"/>
          <p:cNvGrpSpPr/>
          <p:nvPr/>
        </p:nvGrpSpPr>
        <p:grpSpPr>
          <a:xfrm>
            <a:off x="11084040" y="316800"/>
            <a:ext cx="761040" cy="157320"/>
            <a:chOff x="11084040" y="316800"/>
            <a:chExt cx="761040" cy="157320"/>
          </a:xfrm>
        </p:grpSpPr>
        <p:sp>
          <p:nvSpPr>
            <p:cNvPr id="381" name="object 6"/>
            <p:cNvSpPr/>
            <p:nvPr/>
          </p:nvSpPr>
          <p:spPr>
            <a:xfrm>
              <a:off x="1146744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382" name="object 7"/>
            <p:cNvSpPr/>
            <p:nvPr/>
          </p:nvSpPr>
          <p:spPr>
            <a:xfrm>
              <a:off x="1170288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83" name="object 8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384" name="object 9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385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86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387" name="object 22"/>
            <p:cNvSpPr/>
            <p:nvPr/>
          </p:nvSpPr>
          <p:spPr>
            <a:xfrm>
              <a:off x="11363760" y="33876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88" name="object 23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389" name="object 24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390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91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392" name="TextBox 32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3" name="Picture 4" descr=""/>
          <p:cNvPicPr/>
          <p:nvPr/>
        </p:nvPicPr>
        <p:blipFill>
          <a:blip r:embed="rId6"/>
          <a:stretch/>
        </p:blipFill>
        <p:spPr>
          <a:xfrm>
            <a:off x="334440" y="333360"/>
            <a:ext cx="1774800" cy="125640"/>
          </a:xfrm>
          <a:prstGeom prst="rect">
            <a:avLst/>
          </a:prstGeom>
          <a:ln w="0">
            <a:noFill/>
          </a:ln>
        </p:spPr>
      </p:pic>
      <p:pic>
        <p:nvPicPr>
          <p:cNvPr id="394" name="Graphic 5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704160" y="640800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395" name="Graphic 8" descr="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4232880" y="101160"/>
            <a:ext cx="6148080" cy="6316200"/>
          </a:xfrm>
          <a:prstGeom prst="rect">
            <a:avLst/>
          </a:prstGeom>
          <a:ln w="0">
            <a:noFill/>
          </a:ln>
        </p:spPr>
      </p:pic>
      <p:sp>
        <p:nvSpPr>
          <p:cNvPr id="396" name="hcSlideMaster87.Divider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hcSlideMaster78.Divider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hcSlideMaster253.Divider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hcSlideMaster.Divider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11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" name="Group 8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401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402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403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404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05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406" name="Picture 14" descr=""/>
          <p:cNvPicPr/>
          <p:nvPr/>
        </p:nvPicPr>
        <p:blipFill>
          <a:blip r:embed="rId4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407" name="TextBox 15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0000b3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8" name="Graphic 1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sp>
        <p:nvSpPr>
          <p:cNvPr id="409" name="hcSlideMaster123.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hcSlideMaster87.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hcSlideMaster242.1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hcSlideMaster125.1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hcSlideMaster.1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7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" name="Group 16"/>
          <p:cNvGrpSpPr/>
          <p:nvPr/>
        </p:nvGrpSpPr>
        <p:grpSpPr>
          <a:xfrm>
            <a:off x="11084040" y="316800"/>
            <a:ext cx="761040" cy="157320"/>
            <a:chOff x="11084040" y="316800"/>
            <a:chExt cx="761040" cy="157320"/>
          </a:xfrm>
        </p:grpSpPr>
        <p:sp>
          <p:nvSpPr>
            <p:cNvPr id="417" name="object 6"/>
            <p:cNvSpPr/>
            <p:nvPr/>
          </p:nvSpPr>
          <p:spPr>
            <a:xfrm>
              <a:off x="1146744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18" name="object 7"/>
            <p:cNvSpPr/>
            <p:nvPr/>
          </p:nvSpPr>
          <p:spPr>
            <a:xfrm>
              <a:off x="1170288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419" name="object 8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420" name="object 9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421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22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23" name="object 22"/>
            <p:cNvSpPr/>
            <p:nvPr/>
          </p:nvSpPr>
          <p:spPr>
            <a:xfrm>
              <a:off x="11363760" y="33876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424" name="object 23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425" name="object 24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426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27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428" name="TextBox 35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29" name="object 8"/>
          <p:cNvGrpSpPr/>
          <p:nvPr/>
        </p:nvGrpSpPr>
        <p:grpSpPr>
          <a:xfrm>
            <a:off x="358920" y="1264680"/>
            <a:ext cx="659880" cy="835560"/>
            <a:chOff x="358920" y="1264680"/>
            <a:chExt cx="659880" cy="835560"/>
          </a:xfrm>
        </p:grpSpPr>
        <p:sp>
          <p:nvSpPr>
            <p:cNvPr id="430" name="object 9"/>
            <p:cNvSpPr/>
            <p:nvPr/>
          </p:nvSpPr>
          <p:spPr>
            <a:xfrm>
              <a:off x="547920" y="1578240"/>
              <a:ext cx="168120" cy="208080"/>
            </a:xfrm>
            <a:custGeom>
              <a:avLst/>
              <a:gdLst>
                <a:gd name="textAreaLeft" fmla="*/ 0 w 168120"/>
                <a:gd name="textAreaRight" fmla="*/ 168840 w 168120"/>
                <a:gd name="textAreaTop" fmla="*/ 0 h 208080"/>
                <a:gd name="textAreaBottom" fmla="*/ 208800 h 208080"/>
              </a:gdLst>
              <a:ahLst/>
              <a:rect l="textAreaLeft" t="textAreaTop" r="textAreaRight" b="textAreaBottom"/>
              <a:pathLst>
                <a:path w="282575" h="349250">
                  <a:moveTo>
                    <a:pt x="147482" y="349204"/>
                  </a:moveTo>
                  <a:lnTo>
                    <a:pt x="0" y="349204"/>
                  </a:lnTo>
                  <a:lnTo>
                    <a:pt x="0" y="0"/>
                  </a:lnTo>
                  <a:lnTo>
                    <a:pt x="282504" y="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31" name="object 10"/>
            <p:cNvSpPr/>
            <p:nvPr/>
          </p:nvSpPr>
          <p:spPr>
            <a:xfrm>
              <a:off x="457920" y="1488240"/>
              <a:ext cx="293040" cy="388080"/>
            </a:xfrm>
            <a:custGeom>
              <a:avLst/>
              <a:gdLst>
                <a:gd name="textAreaLeft" fmla="*/ 0 w 293040"/>
                <a:gd name="textAreaRight" fmla="*/ 293760 w 293040"/>
                <a:gd name="textAreaTop" fmla="*/ 0 h 388080"/>
                <a:gd name="textAreaBottom" fmla="*/ 388800 h 388080"/>
              </a:gdLst>
              <a:ahLst/>
              <a:rect l="textAreaLeft" t="textAreaTop" r="textAreaRight" b="textAreaBottom"/>
              <a:pathLst>
                <a:path w="490855" h="650239">
                  <a:moveTo>
                    <a:pt x="490718" y="0"/>
                  </a:moveTo>
                  <a:lnTo>
                    <a:pt x="0" y="0"/>
                  </a:lnTo>
                  <a:lnTo>
                    <a:pt x="0" y="649875"/>
                  </a:lnTo>
                  <a:lnTo>
                    <a:pt x="240013" y="649875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32" name="object 11"/>
            <p:cNvSpPr/>
            <p:nvPr/>
          </p:nvSpPr>
          <p:spPr>
            <a:xfrm>
              <a:off x="358920" y="1389240"/>
              <a:ext cx="406800" cy="586080"/>
            </a:xfrm>
            <a:custGeom>
              <a:avLst/>
              <a:gdLst>
                <a:gd name="textAreaLeft" fmla="*/ 0 w 406800"/>
                <a:gd name="textAreaRight" fmla="*/ 407520 w 406800"/>
                <a:gd name="textAreaTop" fmla="*/ 0 h 586080"/>
                <a:gd name="textAreaBottom" fmla="*/ 586800 h 586080"/>
              </a:gdLst>
              <a:ahLst/>
              <a:rect l="textAreaLeft" t="textAreaTop" r="textAreaRight" b="textAreaBottom"/>
              <a:pathLst>
                <a:path w="681355" h="981075">
                  <a:moveTo>
                    <a:pt x="341790" y="980912"/>
                  </a:moveTo>
                  <a:lnTo>
                    <a:pt x="314932" y="980912"/>
                  </a:lnTo>
                  <a:lnTo>
                    <a:pt x="314932" y="880580"/>
                  </a:lnTo>
                  <a:lnTo>
                    <a:pt x="100447" y="880580"/>
                  </a:lnTo>
                  <a:lnTo>
                    <a:pt x="100447" y="666335"/>
                  </a:lnTo>
                  <a:lnTo>
                    <a:pt x="0" y="666335"/>
                  </a:lnTo>
                  <a:lnTo>
                    <a:pt x="0" y="601824"/>
                  </a:lnTo>
                  <a:lnTo>
                    <a:pt x="100447" y="601824"/>
                  </a:lnTo>
                  <a:lnTo>
                    <a:pt x="100447" y="379087"/>
                  </a:lnTo>
                  <a:lnTo>
                    <a:pt x="0" y="379087"/>
                  </a:lnTo>
                  <a:lnTo>
                    <a:pt x="0" y="314566"/>
                  </a:lnTo>
                  <a:lnTo>
                    <a:pt x="100447" y="314566"/>
                  </a:lnTo>
                  <a:lnTo>
                    <a:pt x="100447" y="100332"/>
                  </a:lnTo>
                  <a:lnTo>
                    <a:pt x="314932" y="100332"/>
                  </a:lnTo>
                  <a:lnTo>
                    <a:pt x="314932" y="0"/>
                  </a:lnTo>
                  <a:lnTo>
                    <a:pt x="379517" y="0"/>
                  </a:lnTo>
                  <a:lnTo>
                    <a:pt x="379517" y="100332"/>
                  </a:lnTo>
                  <a:lnTo>
                    <a:pt x="602505" y="100332"/>
                  </a:lnTo>
                  <a:lnTo>
                    <a:pt x="602505" y="0"/>
                  </a:lnTo>
                  <a:lnTo>
                    <a:pt x="667100" y="0"/>
                  </a:lnTo>
                  <a:lnTo>
                    <a:pt x="667100" y="100332"/>
                  </a:lnTo>
                  <a:lnTo>
                    <a:pt x="681172" y="100332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33" name="object 12"/>
            <p:cNvSpPr/>
            <p:nvPr/>
          </p:nvSpPr>
          <p:spPr>
            <a:xfrm>
              <a:off x="586440" y="1616760"/>
              <a:ext cx="113040" cy="130680"/>
            </a:xfrm>
            <a:custGeom>
              <a:avLst/>
              <a:gdLst>
                <a:gd name="textAreaLeft" fmla="*/ 0 w 113040"/>
                <a:gd name="textAreaRight" fmla="*/ 113760 w 113040"/>
                <a:gd name="textAreaTop" fmla="*/ 0 h 130680"/>
                <a:gd name="textAreaBottom" fmla="*/ 131400 h 130680"/>
              </a:gdLst>
              <a:ahLst/>
              <a:rect l="textAreaLeft" t="textAreaTop" r="textAreaRight" b="textAreaBottom"/>
              <a:pathLst>
                <a:path w="190500" h="219710">
                  <a:moveTo>
                    <a:pt x="0" y="219658"/>
                  </a:moveTo>
                  <a:lnTo>
                    <a:pt x="105965" y="219658"/>
                  </a:lnTo>
                  <a:lnTo>
                    <a:pt x="189899" y="0"/>
                  </a:lnTo>
                  <a:lnTo>
                    <a:pt x="0" y="0"/>
                  </a:lnTo>
                  <a:lnTo>
                    <a:pt x="0" y="219658"/>
                  </a:lnTo>
                  <a:close/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34" name="object 13"/>
            <p:cNvSpPr/>
            <p:nvPr/>
          </p:nvSpPr>
          <p:spPr>
            <a:xfrm>
              <a:off x="51624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35" name="object 14"/>
            <p:cNvSpPr/>
            <p:nvPr/>
          </p:nvSpPr>
          <p:spPr>
            <a:xfrm>
              <a:off x="56196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36" name="object 15"/>
            <p:cNvSpPr/>
            <p:nvPr/>
          </p:nvSpPr>
          <p:spPr>
            <a:xfrm>
              <a:off x="60768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183e5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37" name="object 16"/>
            <p:cNvSpPr/>
            <p:nvPr/>
          </p:nvSpPr>
          <p:spPr>
            <a:xfrm>
              <a:off x="607680" y="1264680"/>
              <a:ext cx="411120" cy="835560"/>
            </a:xfrm>
            <a:custGeom>
              <a:avLst/>
              <a:gdLst>
                <a:gd name="textAreaLeft" fmla="*/ 0 w 411120"/>
                <a:gd name="textAreaRight" fmla="*/ 411840 w 4111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688339" h="1398270">
                  <a:moveTo>
                    <a:pt x="535837" y="0"/>
                  </a:moveTo>
                  <a:lnTo>
                    <a:pt x="0" y="1398020"/>
                  </a:lnTo>
                </a:path>
                <a:path w="688339" h="1398270">
                  <a:moveTo>
                    <a:pt x="687979" y="0"/>
                  </a:moveTo>
                  <a:lnTo>
                    <a:pt x="152141" y="139802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38" name="object 17"/>
            <p:cNvSpPr/>
            <p:nvPr/>
          </p:nvSpPr>
          <p:spPr>
            <a:xfrm>
              <a:off x="65340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</p:grpSp>
      <p:pic>
        <p:nvPicPr>
          <p:cNvPr id="439" name="Picture 2" descr=""/>
          <p:cNvPicPr/>
          <p:nvPr/>
        </p:nvPicPr>
        <p:blipFill>
          <a:blip r:embed="rId6"/>
          <a:stretch/>
        </p:blipFill>
        <p:spPr>
          <a:xfrm>
            <a:off x="334440" y="333360"/>
            <a:ext cx="1774800" cy="125640"/>
          </a:xfrm>
          <a:prstGeom prst="rect">
            <a:avLst/>
          </a:prstGeom>
          <a:ln w="0">
            <a:noFill/>
          </a:ln>
        </p:spPr>
      </p:pic>
      <p:pic>
        <p:nvPicPr>
          <p:cNvPr id="440" name="Graphic 4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704160" y="6408000"/>
            <a:ext cx="2134800" cy="168120"/>
          </a:xfrm>
          <a:prstGeom prst="rect">
            <a:avLst/>
          </a:prstGeom>
          <a:ln w="0">
            <a:noFill/>
          </a:ln>
        </p:spPr>
      </p:pic>
      <p:sp>
        <p:nvSpPr>
          <p:cNvPr id="441" name="hcSlideMaster87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hcSlideMaster169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hcSlideMaster68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hcSlideMaster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8000"/>
                </a:solidFill>
                <a:latin typeface="Microsoft Sans Serif"/>
              </a:rPr>
              <a:t>Public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hcSlideMaster253.1_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hcSlideMaster.1_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9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object 3"/>
          <p:cNvSpPr/>
          <p:nvPr/>
        </p:nvSpPr>
        <p:spPr>
          <a:xfrm>
            <a:off x="323640" y="1693800"/>
            <a:ext cx="2467080" cy="12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1320" bIns="0" anchor="t">
            <a:spAutoFit/>
          </a:bodyPr>
          <a:p>
            <a:pPr marL="6480" defTabSz="914400">
              <a:lnSpc>
                <a:spcPct val="120000"/>
              </a:lnSpc>
              <a:spcBef>
                <a:spcPts val="247"/>
              </a:spcBef>
            </a:pPr>
            <a:r>
              <a:rPr b="0" lang="en-US" sz="1100" spc="77" strike="noStrike">
                <a:solidFill>
                  <a:schemeClr val="lt2"/>
                </a:solidFill>
                <a:latin typeface="DMSans-Medium"/>
              </a:rPr>
              <a:t>ASIA</a:t>
            </a:r>
            <a:r>
              <a:rPr b="0" lang="en-US" sz="1100" spc="219" strike="noStrike">
                <a:solidFill>
                  <a:schemeClr val="lt2"/>
                </a:solidFill>
                <a:latin typeface="DMSans-Medium"/>
              </a:rPr>
              <a:t> </a:t>
            </a:r>
            <a:r>
              <a:rPr b="0" lang="en-US" sz="1100" spc="66" strike="noStrike">
                <a:solidFill>
                  <a:schemeClr val="lt2"/>
                </a:solidFill>
                <a:latin typeface="DMSans-Medium"/>
              </a:rPr>
              <a:t>PACIFIC 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25</a:t>
            </a:r>
            <a:r>
              <a:rPr b="0" lang="en-US" sz="1100" spc="-21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Rajiv</a:t>
            </a:r>
            <a:r>
              <a:rPr b="0" lang="en-US" sz="1100" spc="-21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Gandhi</a:t>
            </a:r>
            <a:r>
              <a:rPr b="0" lang="en-US" sz="1100" spc="-21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Infotech</a:t>
            </a:r>
            <a:r>
              <a:rPr b="0" lang="en-US" sz="1100" spc="-21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Park</a:t>
            </a:r>
            <a:br>
              <a:rPr sz="1100"/>
            </a:b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Hinjawadi,</a:t>
            </a:r>
            <a:r>
              <a:rPr b="0" lang="en-US" sz="1100" spc="-35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Pune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</a:pP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India</a:t>
            </a:r>
            <a:br>
              <a:rPr sz="1100"/>
            </a:b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411057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  <a:spcBef>
                <a:spcPts val="204"/>
              </a:spcBef>
            </a:pP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Tel:</a:t>
            </a:r>
            <a:r>
              <a:rPr b="0" lang="en-US" sz="1100" spc="-2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+91</a:t>
            </a:r>
            <a:r>
              <a:rPr b="0" lang="en-US" sz="1100" spc="-2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20</a:t>
            </a:r>
            <a:r>
              <a:rPr b="0" lang="en-US" sz="1100" spc="-2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6652</a:t>
            </a:r>
            <a:r>
              <a:rPr b="0" lang="en-US" sz="1100" spc="-2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9090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object 4"/>
          <p:cNvSpPr/>
          <p:nvPr/>
        </p:nvSpPr>
        <p:spPr>
          <a:xfrm>
            <a:off x="323640" y="3110760"/>
            <a:ext cx="3096360" cy="16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1320" bIns="0" anchor="t">
            <a:spAutoFit/>
          </a:bodyPr>
          <a:p>
            <a:pPr marL="6480" defTabSz="914400">
              <a:lnSpc>
                <a:spcPct val="120000"/>
              </a:lnSpc>
              <a:spcBef>
                <a:spcPts val="247"/>
              </a:spcBef>
            </a:pPr>
            <a:r>
              <a:rPr b="0" lang="en-US" sz="1100" spc="77" strike="noStrike">
                <a:solidFill>
                  <a:schemeClr val="lt2"/>
                </a:solidFill>
                <a:latin typeface="DMSans-Medium"/>
              </a:rPr>
              <a:t>EUROPE 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The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European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Innovation</a:t>
            </a:r>
            <a:br>
              <a:rPr sz="1100"/>
            </a:b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and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Development</a:t>
            </a:r>
            <a:r>
              <a:rPr b="0" lang="en-US" sz="1100" spc="-35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Centre</a:t>
            </a:r>
            <a:r>
              <a:rPr b="0" lang="en-US" sz="1100" spc="-32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(EIDC)</a:t>
            </a:r>
            <a:br>
              <a:rPr sz="1100"/>
            </a:b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Olympus </a:t>
            </a: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Avenue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</a:pP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Tachbrook</a:t>
            </a:r>
            <a:r>
              <a:rPr b="0" lang="en-US" sz="1100" spc="-4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Park</a:t>
            </a:r>
            <a:br>
              <a:rPr sz="1100"/>
            </a:b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Warwick,</a:t>
            </a:r>
            <a:r>
              <a:rPr b="0" lang="en-US" sz="1100" spc="-4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UK</a:t>
            </a:r>
            <a:br>
              <a:rPr sz="1100"/>
            </a:b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CV34</a:t>
            </a:r>
            <a:r>
              <a:rPr b="0" lang="en-US" sz="1100" spc="-21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6RJ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  <a:spcBef>
                <a:spcPts val="204"/>
              </a:spcBef>
            </a:pP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Tel:</a:t>
            </a:r>
            <a:r>
              <a:rPr b="0" lang="en-US" sz="1100" spc="-32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+44</a:t>
            </a:r>
            <a:r>
              <a:rPr b="0" lang="en-US" sz="1100" spc="-2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(0)</a:t>
            </a:r>
            <a:r>
              <a:rPr b="0" lang="en-US" sz="1100" spc="-32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8443</a:t>
            </a:r>
            <a:r>
              <a:rPr b="0" lang="en-US" sz="1100" spc="-2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759</a:t>
            </a:r>
            <a:r>
              <a:rPr b="0" lang="en-US" sz="1100" spc="-2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685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object 5"/>
          <p:cNvSpPr/>
          <p:nvPr/>
        </p:nvSpPr>
        <p:spPr>
          <a:xfrm>
            <a:off x="323280" y="4869360"/>
            <a:ext cx="2295000" cy="12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1320" bIns="0" anchor="t">
            <a:spAutoFit/>
          </a:bodyPr>
          <a:p>
            <a:pPr marL="6480" defTabSz="914400">
              <a:lnSpc>
                <a:spcPct val="120000"/>
              </a:lnSpc>
              <a:spcBef>
                <a:spcPts val="247"/>
              </a:spcBef>
            </a:pPr>
            <a:r>
              <a:rPr b="0" lang="en-US" sz="1100" spc="83" strike="noStrike">
                <a:solidFill>
                  <a:schemeClr val="lt2"/>
                </a:solidFill>
                <a:latin typeface="DMSans-Medium"/>
              </a:rPr>
              <a:t>NORTH</a:t>
            </a:r>
            <a:r>
              <a:rPr b="0" lang="en-US" sz="1100" spc="214" strike="noStrike">
                <a:solidFill>
                  <a:schemeClr val="lt2"/>
                </a:solidFill>
                <a:latin typeface="DMSans-Medium"/>
              </a:rPr>
              <a:t> </a:t>
            </a:r>
            <a:r>
              <a:rPr b="0" lang="en-US" sz="1100" spc="83" strike="noStrike">
                <a:solidFill>
                  <a:schemeClr val="lt2"/>
                </a:solidFill>
                <a:latin typeface="DMSans-Medium"/>
              </a:rPr>
              <a:t>AMERICA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  <a:spcBef>
                <a:spcPts val="201"/>
              </a:spcBef>
            </a:pP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6001 Cass </a:t>
            </a: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Avenue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  <a:spcBef>
                <a:spcPts val="3"/>
              </a:spcBef>
            </a:pP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Suite</a:t>
            </a:r>
            <a:r>
              <a:rPr b="0" lang="en-US" sz="1100" spc="-18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600</a:t>
            </a:r>
            <a:br>
              <a:rPr sz="1100"/>
            </a:b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Detroit</a:t>
            </a:r>
            <a:r>
              <a:rPr b="0" lang="en-US" sz="1100" spc="-38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MI</a:t>
            </a:r>
            <a:br>
              <a:rPr sz="1100"/>
            </a:b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USA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48202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  <a:spcBef>
                <a:spcPts val="201"/>
              </a:spcBef>
            </a:pP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Tel:</a:t>
            </a:r>
            <a:r>
              <a:rPr b="0" lang="en-US" sz="1100" spc="-18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+1</a:t>
            </a:r>
            <a:r>
              <a:rPr b="0" lang="en-US" sz="1100" spc="-18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248</a:t>
            </a:r>
            <a:r>
              <a:rPr b="0" lang="en-US" sz="1100" spc="-18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426</a:t>
            </a:r>
            <a:r>
              <a:rPr b="0" lang="en-US" sz="1100" spc="-18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1482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object 7"/>
          <p:cNvSpPr/>
          <p:nvPr/>
        </p:nvSpPr>
        <p:spPr>
          <a:xfrm>
            <a:off x="9742320" y="1921320"/>
            <a:ext cx="2233080" cy="17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120" bIns="0" anchor="t">
            <a:spAutoFit/>
          </a:bodyPr>
          <a:p>
            <a:pPr marL="198360" defTabSz="914400">
              <a:lnSpc>
                <a:spcPct val="150000"/>
              </a:lnSpc>
              <a:spcBef>
                <a:spcPts val="48"/>
              </a:spcBef>
            </a:pP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/TataTechnologies </a:t>
            </a:r>
            <a:br>
              <a:rPr sz="1100"/>
            </a:b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@tatatechnologies</a:t>
            </a:r>
            <a:br>
              <a:rPr sz="1100"/>
            </a:b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/TataTech_News</a:t>
            </a:r>
            <a:br>
              <a:rPr sz="1100"/>
            </a:b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/TataTechnologies</a:t>
            </a:r>
            <a:br>
              <a:rPr sz="1100"/>
            </a:b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/TataTechnologies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6480" defTabSz="914400">
              <a:lnSpc>
                <a:spcPct val="150000"/>
              </a:lnSpc>
              <a:spcBef>
                <a:spcPts val="958"/>
              </a:spcBef>
            </a:pPr>
            <a:r>
              <a:rPr b="0" lang="en-US" sz="1600" spc="-7" strike="noStrike">
                <a:solidFill>
                  <a:schemeClr val="lt2"/>
                </a:solidFill>
                <a:latin typeface="DM Sans"/>
              </a:rPr>
              <a:t>tatatechnologies.com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51" name="Graphic 24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749880" y="2021400"/>
            <a:ext cx="131760" cy="131760"/>
          </a:xfrm>
          <a:prstGeom prst="rect">
            <a:avLst/>
          </a:prstGeom>
          <a:ln w="0">
            <a:noFill/>
          </a:ln>
        </p:spPr>
      </p:pic>
      <p:pic>
        <p:nvPicPr>
          <p:cNvPr id="452" name="Graphic 26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41240" y="3002400"/>
            <a:ext cx="145440" cy="136080"/>
          </a:xfrm>
          <a:prstGeom prst="rect">
            <a:avLst/>
          </a:prstGeom>
          <a:ln w="0">
            <a:noFill/>
          </a:ln>
        </p:spPr>
      </p:pic>
      <p:pic>
        <p:nvPicPr>
          <p:cNvPr id="453" name="Graphic 28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9741240" y="2507400"/>
            <a:ext cx="149400" cy="122760"/>
          </a:xfrm>
          <a:prstGeom prst="rect">
            <a:avLst/>
          </a:prstGeom>
          <a:ln w="0">
            <a:noFill/>
          </a:ln>
        </p:spPr>
      </p:pic>
      <p:pic>
        <p:nvPicPr>
          <p:cNvPr id="454" name="Picture 30" descr=""/>
          <p:cNvPicPr/>
          <p:nvPr/>
        </p:nvPicPr>
        <p:blipFill>
          <a:blip r:embed="rId8"/>
          <a:srcRect l="0" t="0" r="0" b="-3470"/>
          <a:stretch/>
        </p:blipFill>
        <p:spPr>
          <a:xfrm>
            <a:off x="9732960" y="2771640"/>
            <a:ext cx="165600" cy="113040"/>
          </a:xfrm>
          <a:prstGeom prst="rect">
            <a:avLst/>
          </a:prstGeom>
          <a:ln w="0">
            <a:noFill/>
          </a:ln>
        </p:spPr>
      </p:pic>
      <p:pic>
        <p:nvPicPr>
          <p:cNvPr id="455" name="Graphic 32" descr="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9749880" y="2274840"/>
            <a:ext cx="131760" cy="131760"/>
          </a:xfrm>
          <a:prstGeom prst="rect">
            <a:avLst/>
          </a:prstGeom>
          <a:ln w="0">
            <a:noFill/>
          </a:ln>
        </p:spPr>
      </p:pic>
      <p:grpSp>
        <p:nvGrpSpPr>
          <p:cNvPr id="456" name="Group 36"/>
          <p:cNvGrpSpPr/>
          <p:nvPr/>
        </p:nvGrpSpPr>
        <p:grpSpPr>
          <a:xfrm>
            <a:off x="11084040" y="316800"/>
            <a:ext cx="761040" cy="157320"/>
            <a:chOff x="11084040" y="316800"/>
            <a:chExt cx="761040" cy="157320"/>
          </a:xfrm>
        </p:grpSpPr>
        <p:sp>
          <p:nvSpPr>
            <p:cNvPr id="457" name="object 6"/>
            <p:cNvSpPr/>
            <p:nvPr/>
          </p:nvSpPr>
          <p:spPr>
            <a:xfrm>
              <a:off x="1146744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58" name="object 7"/>
            <p:cNvSpPr/>
            <p:nvPr/>
          </p:nvSpPr>
          <p:spPr>
            <a:xfrm>
              <a:off x="1170288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459" name="object 8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460" name="object 9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461" name="object 10" descr=""/>
              <p:cNvPicPr/>
              <p:nvPr/>
            </p:nvPicPr>
            <p:blipFill>
              <a:blip r:embed="rId11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62" name="object 11" descr=""/>
              <p:cNvPicPr/>
              <p:nvPr/>
            </p:nvPicPr>
            <p:blipFill>
              <a:blip r:embed="rId12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63" name="object 22"/>
            <p:cNvSpPr/>
            <p:nvPr/>
          </p:nvSpPr>
          <p:spPr>
            <a:xfrm>
              <a:off x="11363760" y="33876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464" name="object 23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465" name="object 24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466" name="object 25" descr=""/>
              <p:cNvPicPr/>
              <p:nvPr/>
            </p:nvPicPr>
            <p:blipFill>
              <a:blip r:embed="rId13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67" name="object 26" descr=""/>
              <p:cNvPicPr/>
              <p:nvPr/>
            </p:nvPicPr>
            <p:blipFill>
              <a:blip r:embed="rId14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468" name="TextBox 52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Rectangle 1">
            <a:hlinkClick r:id="rId15"/>
          </p:cNvPr>
          <p:cNvSpPr/>
          <p:nvPr/>
        </p:nvSpPr>
        <p:spPr>
          <a:xfrm>
            <a:off x="9684360" y="3375720"/>
            <a:ext cx="2156040" cy="267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35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470" name="Rectangle 3">
            <a:hlinkClick r:id="rId16"/>
          </p:cNvPr>
          <p:cNvSpPr/>
          <p:nvPr/>
        </p:nvSpPr>
        <p:spPr>
          <a:xfrm>
            <a:off x="9684360" y="1988280"/>
            <a:ext cx="1496160" cy="171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35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471" name="Rectangle 4">
            <a:hlinkClick r:id="rId17"/>
          </p:cNvPr>
          <p:cNvSpPr/>
          <p:nvPr/>
        </p:nvSpPr>
        <p:spPr>
          <a:xfrm>
            <a:off x="9684360" y="2249640"/>
            <a:ext cx="1496160" cy="171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35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472" name="Rectangle 5">
            <a:hlinkClick r:id="rId18"/>
          </p:cNvPr>
          <p:cNvSpPr/>
          <p:nvPr/>
        </p:nvSpPr>
        <p:spPr>
          <a:xfrm>
            <a:off x="9684360" y="2481840"/>
            <a:ext cx="1496160" cy="171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35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473" name="Rectangle 6">
            <a:hlinkClick r:id="rId19"/>
          </p:cNvPr>
          <p:cNvSpPr/>
          <p:nvPr/>
        </p:nvSpPr>
        <p:spPr>
          <a:xfrm>
            <a:off x="9684360" y="2736000"/>
            <a:ext cx="1496160" cy="171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35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474" name="Rectangle 7">
            <a:hlinkClick r:id="rId20"/>
          </p:cNvPr>
          <p:cNvSpPr/>
          <p:nvPr/>
        </p:nvSpPr>
        <p:spPr>
          <a:xfrm>
            <a:off x="9684360" y="2982600"/>
            <a:ext cx="1496160" cy="171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350" spc="-1" strike="noStrike">
              <a:solidFill>
                <a:schemeClr val="lt1"/>
              </a:solidFill>
              <a:latin typeface="DM Sans"/>
            </a:endParaRPr>
          </a:p>
        </p:txBody>
      </p:sp>
      <p:pic>
        <p:nvPicPr>
          <p:cNvPr id="475" name="Picture 2" descr=""/>
          <p:cNvPicPr/>
          <p:nvPr/>
        </p:nvPicPr>
        <p:blipFill>
          <a:blip r:embed="rId21"/>
          <a:stretch/>
        </p:blipFill>
        <p:spPr>
          <a:xfrm>
            <a:off x="334440" y="333360"/>
            <a:ext cx="1774800" cy="125640"/>
          </a:xfrm>
          <a:prstGeom prst="rect">
            <a:avLst/>
          </a:prstGeom>
          <a:ln w="0">
            <a:noFill/>
          </a:ln>
        </p:spPr>
      </p:pic>
      <p:pic>
        <p:nvPicPr>
          <p:cNvPr id="476" name="Graphic 9" descr=""/>
          <p:cNvPicPr/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/>
        </p:blipFill>
        <p:spPr>
          <a:xfrm>
            <a:off x="9704160" y="640800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477" name="Graphic 10" descr=""/>
          <p:cNvPicPr/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/>
        </p:blipFill>
        <p:spPr>
          <a:xfrm>
            <a:off x="4744800" y="95760"/>
            <a:ext cx="3281760" cy="6522120"/>
          </a:xfrm>
          <a:prstGeom prst="rect">
            <a:avLst/>
          </a:prstGeom>
          <a:ln w="0">
            <a:noFill/>
          </a:ln>
        </p:spPr>
      </p:pic>
      <p:sp>
        <p:nvSpPr>
          <p:cNvPr id="478" name="hcSlideMaster87.Closing slid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hcSlideMaster78.Closing slid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hcSlideMaster253.Closing slid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hcSlideMaster.Closing slid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6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TextBox 7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3" name="Graphic 8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grpSp>
        <p:nvGrpSpPr>
          <p:cNvPr id="484" name="Group 84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485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486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487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488" name="object 14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89" name="object 15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490" name="Picture 90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491" name="hcSlideMaster784.2_Title Slide_ER&amp;D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hcSlideMaster784.Process Flow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hcSlideMaster608.Process Flow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hcSlideMaster1089.Process Flow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hcSlideMaster.Process Flow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7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roup 7"/>
          <p:cNvGrpSpPr/>
          <p:nvPr/>
        </p:nvGrpSpPr>
        <p:grpSpPr>
          <a:xfrm>
            <a:off x="11084040" y="316800"/>
            <a:ext cx="761040" cy="157320"/>
            <a:chOff x="11084040" y="316800"/>
            <a:chExt cx="761040" cy="157320"/>
          </a:xfrm>
        </p:grpSpPr>
        <p:sp>
          <p:nvSpPr>
            <p:cNvPr id="497" name="object 6"/>
            <p:cNvSpPr/>
            <p:nvPr/>
          </p:nvSpPr>
          <p:spPr>
            <a:xfrm>
              <a:off x="1146744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98" name="object 7"/>
            <p:cNvSpPr/>
            <p:nvPr/>
          </p:nvSpPr>
          <p:spPr>
            <a:xfrm>
              <a:off x="1170288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499" name="object 8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500" name="object 9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501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02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03" name="object 22"/>
            <p:cNvSpPr/>
            <p:nvPr/>
          </p:nvSpPr>
          <p:spPr>
            <a:xfrm>
              <a:off x="11363760" y="33876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504" name="object 23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505" name="object 24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506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07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508" name="TextBox 3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9" name="Picture 2" descr=""/>
          <p:cNvPicPr/>
          <p:nvPr/>
        </p:nvPicPr>
        <p:blipFill>
          <a:blip r:embed="rId6"/>
          <a:stretch/>
        </p:blipFill>
        <p:spPr>
          <a:xfrm>
            <a:off x="334440" y="333360"/>
            <a:ext cx="1774800" cy="125640"/>
          </a:xfrm>
          <a:prstGeom prst="rect">
            <a:avLst/>
          </a:prstGeom>
          <a:ln w="0">
            <a:noFill/>
          </a:ln>
        </p:spPr>
      </p:pic>
      <p:pic>
        <p:nvPicPr>
          <p:cNvPr id="510" name="Graphic 4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704160" y="6408000"/>
            <a:ext cx="2134800" cy="168120"/>
          </a:xfrm>
          <a:prstGeom prst="rect">
            <a:avLst/>
          </a:prstGeom>
          <a:ln w="0">
            <a:noFill/>
          </a:ln>
        </p:spPr>
      </p:pic>
      <p:sp>
        <p:nvSpPr>
          <p:cNvPr id="511" name="hcSlideMaster87.Blank blu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hcSlideMaster78.Blank blu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hcSlideMaster253.Blank blu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hcSlideMaster.Blank blu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PlaceHolder 1"/>
          <p:cNvSpPr>
            <a:spLocks noGrp="1"/>
          </p:cNvSpPr>
          <p:nvPr>
            <p:ph type="sldNum" idx="16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lt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CACE492-6CB8-4E18-A434-BFAE158A008F}" type="slidenum">
              <a:rPr b="0" lang="en-GB" sz="800" spc="-1" strike="noStrike">
                <a:solidFill>
                  <a:schemeClr val="lt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png"/><Relationship Id="rId3" Type="http://schemas.openxmlformats.org/officeDocument/2006/relationships/image" Target="../media/image39.svg"/><Relationship Id="rId4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icture Placeholder 9"/>
          <p:cNvSpPr/>
          <p:nvPr/>
        </p:nvSpPr>
        <p:spPr>
          <a:xfrm>
            <a:off x="5941800" y="816840"/>
            <a:ext cx="6242040" cy="5176440"/>
          </a:xfrm>
          <a:custGeom>
            <a:avLst/>
            <a:gdLst>
              <a:gd name="textAreaLeft" fmla="*/ 0 w 6242040"/>
              <a:gd name="textAreaRight" fmla="*/ 6242760 w 6242040"/>
              <a:gd name="textAreaTop" fmla="*/ 0 h 5176440"/>
              <a:gd name="textAreaBottom" fmla="*/ 5177160 h 5176440"/>
            </a:gdLst>
            <a:ahLst/>
            <a:rect l="textAreaLeft" t="textAreaTop" r="textAreaRight" b="textAreaBottom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PlaceHolder 1"/>
          <p:cNvSpPr>
            <a:spLocks noGrp="1"/>
          </p:cNvSpPr>
          <p:nvPr>
            <p:ph type="title"/>
          </p:nvPr>
        </p:nvSpPr>
        <p:spPr>
          <a:xfrm>
            <a:off x="245520" y="2600280"/>
            <a:ext cx="5222880" cy="131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628bff"/>
                </a:solidFill>
                <a:latin typeface="DM Sans"/>
              </a:rPr>
              <a:t>AI Powered Test Automation Platform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PlaceHolder 2"/>
          <p:cNvSpPr>
            <a:spLocks noGrp="1"/>
          </p:cNvSpPr>
          <p:nvPr>
            <p:ph/>
          </p:nvPr>
        </p:nvSpPr>
        <p:spPr>
          <a:xfrm>
            <a:off x="245520" y="4891680"/>
            <a:ext cx="42912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DM Sans"/>
              </a:rPr>
              <a:t>25-Aug-2026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9" name="Graphic 10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413240" y="289440"/>
            <a:ext cx="5345640" cy="4506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233280" y="780120"/>
            <a:ext cx="11957760" cy="4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0000b3"/>
                </a:solidFill>
                <a:latin typeface="Arial"/>
              </a:rPr>
              <a:t>The Real Cost of Getting to “Automated”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Box 577"/>
          <p:cNvSpPr/>
          <p:nvPr/>
        </p:nvSpPr>
        <p:spPr>
          <a:xfrm>
            <a:off x="233280" y="519840"/>
            <a:ext cx="109728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50" spc="137" strike="noStrike">
                <a:solidFill>
                  <a:srgbClr val="e08200"/>
                </a:solidFill>
                <a:latin typeface="Arial"/>
              </a:rPr>
              <a:t>THE PROBLEM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Rounded Rectangle 578"/>
          <p:cNvSpPr/>
          <p:nvPr/>
        </p:nvSpPr>
        <p:spPr>
          <a:xfrm>
            <a:off x="233280" y="1325160"/>
            <a:ext cx="619560" cy="33480"/>
          </a:xfrm>
          <a:prstGeom prst="roundRect">
            <a:avLst>
              <a:gd name="adj" fmla="val 50000"/>
            </a:avLst>
          </a:prstGeom>
          <a:solidFill>
            <a:srgbClr val="6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0880" bIns="-2088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23" name="TextBox 579"/>
          <p:cNvSpPr/>
          <p:nvPr/>
        </p:nvSpPr>
        <p:spPr>
          <a:xfrm>
            <a:off x="609480" y="1419840"/>
            <a:ext cx="109728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666666"/>
                </a:solidFill>
                <a:latin typeface="DM Sans"/>
              </a:rPr>
              <a:t>Every project pays this price before a single automated regression test ever runs.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Rounded Rectangle 580"/>
          <p:cNvSpPr/>
          <p:nvPr/>
        </p:nvSpPr>
        <p:spPr>
          <a:xfrm>
            <a:off x="609480" y="1900080"/>
            <a:ext cx="5201280" cy="1449720"/>
          </a:xfrm>
          <a:prstGeom prst="roundRect">
            <a:avLst>
              <a:gd name="adj" fmla="val 8000"/>
            </a:avLst>
          </a:prstGeom>
          <a:solidFill>
            <a:srgbClr val="001b5b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25" name="TextBox 581"/>
          <p:cNvSpPr/>
          <p:nvPr/>
        </p:nvSpPr>
        <p:spPr>
          <a:xfrm>
            <a:off x="869400" y="2090160"/>
            <a:ext cx="4681080" cy="10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50" spc="97" strike="noStrike">
                <a:solidFill>
                  <a:srgbClr val="ffffff"/>
                </a:solidFill>
                <a:latin typeface="Arial"/>
              </a:rPr>
              <a:t>FRAMEWORK SETUP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</a:rPr>
              <a:t>2–4 weeks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0" lang="en-US" sz="1050" spc="-1" strike="noStrike">
                <a:solidFill>
                  <a:srgbClr val="ffffff"/>
                </a:solidFill>
                <a:latin typeface="DM Sans"/>
              </a:rPr>
              <a:t>to build the base architecture — page objects, configs, reporting, CI hooks — before a single test case is automated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Oval 582"/>
          <p:cNvSpPr/>
          <p:nvPr/>
        </p:nvSpPr>
        <p:spPr>
          <a:xfrm>
            <a:off x="5846040" y="2374920"/>
            <a:ext cx="499680" cy="499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1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400" spc="-1" strike="noStrike">
                <a:solidFill>
                  <a:srgbClr val="001b5b"/>
                </a:solidFill>
                <a:latin typeface="Arial"/>
              </a:rPr>
              <a:t>+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Rounded Rectangle 583"/>
          <p:cNvSpPr/>
          <p:nvPr/>
        </p:nvSpPr>
        <p:spPr>
          <a:xfrm>
            <a:off x="6381000" y="1900080"/>
            <a:ext cx="5201280" cy="1449720"/>
          </a:xfrm>
          <a:prstGeom prst="roundRect">
            <a:avLst>
              <a:gd name="adj" fmla="val 8000"/>
            </a:avLst>
          </a:prstGeom>
          <a:solidFill>
            <a:srgbClr val="001b5b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28" name="TextBox 584"/>
          <p:cNvSpPr/>
          <p:nvPr/>
        </p:nvSpPr>
        <p:spPr>
          <a:xfrm>
            <a:off x="6640920" y="2090160"/>
            <a:ext cx="4681080" cy="10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50" spc="97" strike="noStrike">
                <a:solidFill>
                  <a:srgbClr val="ffffff"/>
                </a:solidFill>
                <a:latin typeface="Arial"/>
              </a:rPr>
              <a:t>PER TEST CASE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</a:rPr>
              <a:t>4–8 hours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0" lang="en-US" sz="1050" spc="-1" strike="noStrike">
                <a:solidFill>
                  <a:srgbClr val="ffffff"/>
                </a:solidFill>
                <a:latin typeface="DM Sans"/>
              </a:rPr>
              <a:t>of locator discovery, scripting, and data wiring — repeated by hand for every single test case in the suite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Box 585"/>
          <p:cNvSpPr/>
          <p:nvPr/>
        </p:nvSpPr>
        <p:spPr>
          <a:xfrm>
            <a:off x="609480" y="3459960"/>
            <a:ext cx="109728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250" spc="-1" strike="noStrike">
                <a:solidFill>
                  <a:srgbClr val="001b5b"/>
                </a:solidFill>
                <a:latin typeface="Arial"/>
              </a:rPr>
              <a:t>That's weeks of setup — then hours multiplied by every test case still waiting to be written.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Box 586"/>
          <p:cNvSpPr/>
          <p:nvPr/>
        </p:nvSpPr>
        <p:spPr>
          <a:xfrm>
            <a:off x="609480" y="3800160"/>
            <a:ext cx="10972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97" strike="noStrike">
                <a:solidFill>
                  <a:srgbClr val="001b5b"/>
                </a:solidFill>
                <a:latin typeface="Arial"/>
              </a:rPr>
              <a:t>AND THE COSTS DON'T STOP THERE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Rounded Rectangle 587"/>
          <p:cNvSpPr/>
          <p:nvPr/>
        </p:nvSpPr>
        <p:spPr>
          <a:xfrm>
            <a:off x="609480" y="4100040"/>
            <a:ext cx="2593080" cy="147960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 w="9525">
            <a:solidFill>
              <a:srgbClr val="001b5b"/>
            </a:solidFill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32" name="Oval 588"/>
          <p:cNvSpPr/>
          <p:nvPr/>
        </p:nvSpPr>
        <p:spPr>
          <a:xfrm>
            <a:off x="769320" y="4219920"/>
            <a:ext cx="439560" cy="439560"/>
          </a:xfrm>
          <a:prstGeom prst="ellipse">
            <a:avLst/>
          </a:prstGeom>
          <a:solidFill>
            <a:srgbClr val="001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!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Box 589"/>
          <p:cNvSpPr/>
          <p:nvPr/>
        </p:nvSpPr>
        <p:spPr>
          <a:xfrm>
            <a:off x="799560" y="4759920"/>
            <a:ext cx="2212920" cy="67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rgbClr val="001b5b"/>
                </a:solidFill>
                <a:latin typeface="Arial"/>
              </a:rPr>
              <a:t>Scripts Break Constantly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</a:pP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Every UI change risks breaking existing tests — maintenance becomes a permanent, uncosted workstream.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Rounded Rectangle 590"/>
          <p:cNvSpPr/>
          <p:nvPr/>
        </p:nvSpPr>
        <p:spPr>
          <a:xfrm>
            <a:off x="3402720" y="4100040"/>
            <a:ext cx="2593080" cy="147960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 w="9525">
            <a:solidFill>
              <a:srgbClr val="001b5b"/>
            </a:solidFill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35" name="Oval 591"/>
          <p:cNvSpPr/>
          <p:nvPr/>
        </p:nvSpPr>
        <p:spPr>
          <a:xfrm>
            <a:off x="3562920" y="4219920"/>
            <a:ext cx="439560" cy="439560"/>
          </a:xfrm>
          <a:prstGeom prst="ellipse">
            <a:avLst/>
          </a:prstGeom>
          <a:solidFill>
            <a:srgbClr val="001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!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TextBox 592"/>
          <p:cNvSpPr/>
          <p:nvPr/>
        </p:nvSpPr>
        <p:spPr>
          <a:xfrm>
            <a:off x="3592800" y="4759920"/>
            <a:ext cx="2212920" cy="67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rgbClr val="001b5b"/>
                </a:solidFill>
                <a:latin typeface="Arial"/>
              </a:rPr>
              <a:t>Expertise Is Scarce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</a:pP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Skilled automation engineers are hard to hire — and they spend most of their time on plumbing, not test design.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Rounded Rectangle 593"/>
          <p:cNvSpPr/>
          <p:nvPr/>
        </p:nvSpPr>
        <p:spPr>
          <a:xfrm>
            <a:off x="6195960" y="4100040"/>
            <a:ext cx="2593080" cy="147960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 w="9525">
            <a:solidFill>
              <a:srgbClr val="001b5b"/>
            </a:solidFill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38" name="Oval 594"/>
          <p:cNvSpPr/>
          <p:nvPr/>
        </p:nvSpPr>
        <p:spPr>
          <a:xfrm>
            <a:off x="6356160" y="4219920"/>
            <a:ext cx="439560" cy="439560"/>
          </a:xfrm>
          <a:prstGeom prst="ellipse">
            <a:avLst/>
          </a:prstGeom>
          <a:solidFill>
            <a:srgbClr val="001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!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TextBox 595"/>
          <p:cNvSpPr/>
          <p:nvPr/>
        </p:nvSpPr>
        <p:spPr>
          <a:xfrm>
            <a:off x="6386040" y="4759920"/>
            <a:ext cx="2212920" cy="84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rgbClr val="001b5b"/>
                </a:solidFill>
                <a:latin typeface="Arial"/>
              </a:rPr>
              <a:t>Every Project Reinvents the Wheel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</a:pP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Without a shared framework, each team rebuilds its own conventions from scratch — nothing gets reused.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Rounded Rectangle 596"/>
          <p:cNvSpPr/>
          <p:nvPr/>
        </p:nvSpPr>
        <p:spPr>
          <a:xfrm>
            <a:off x="8989200" y="4100040"/>
            <a:ext cx="2593080" cy="147960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 w="9525">
            <a:solidFill>
              <a:srgbClr val="001b5b"/>
            </a:solidFill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41" name="Oval 597"/>
          <p:cNvSpPr/>
          <p:nvPr/>
        </p:nvSpPr>
        <p:spPr>
          <a:xfrm>
            <a:off x="9149400" y="4219920"/>
            <a:ext cx="439560" cy="439560"/>
          </a:xfrm>
          <a:prstGeom prst="ellipse">
            <a:avLst/>
          </a:prstGeom>
          <a:solidFill>
            <a:srgbClr val="001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!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Box 598"/>
          <p:cNvSpPr/>
          <p:nvPr/>
        </p:nvSpPr>
        <p:spPr>
          <a:xfrm>
            <a:off x="9179280" y="4759920"/>
            <a:ext cx="2212920" cy="67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rgbClr val="001b5b"/>
                </a:solidFill>
                <a:latin typeface="Arial"/>
              </a:rPr>
              <a:t>Regression Suites Fall Behind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</a:pP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By the time automation catches up, the application has already changed again — QA becomes the release bottleneck.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Rounded Rectangle 599"/>
          <p:cNvSpPr/>
          <p:nvPr/>
        </p:nvSpPr>
        <p:spPr>
          <a:xfrm>
            <a:off x="609480" y="5720040"/>
            <a:ext cx="10972800" cy="479520"/>
          </a:xfrm>
          <a:prstGeom prst="roundRect">
            <a:avLst>
              <a:gd name="adj" fmla="val 18000"/>
            </a:avLst>
          </a:prstGeom>
          <a:solidFill>
            <a:srgbClr val="0000b3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44" name="TextBox 600"/>
          <p:cNvSpPr/>
          <p:nvPr/>
        </p:nvSpPr>
        <p:spPr>
          <a:xfrm>
            <a:off x="869400" y="5864040"/>
            <a:ext cx="1045260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Arial"/>
              </a:rPr>
              <a:t>The result: automation gets under-built, or takes months to pay for itself — long before a single release ever benefits.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TextBox 1"/>
          <p:cNvSpPr/>
          <p:nvPr/>
        </p:nvSpPr>
        <p:spPr>
          <a:xfrm>
            <a:off x="233280" y="519840"/>
            <a:ext cx="109728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50" spc="137" strike="noStrike">
                <a:solidFill>
                  <a:srgbClr val="e08200"/>
                </a:solidFill>
                <a:latin typeface="Arial"/>
              </a:rPr>
              <a:t>THE SOLUTION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PlaceHolder 1"/>
          <p:cNvSpPr>
            <a:spLocks noGrp="1"/>
          </p:cNvSpPr>
          <p:nvPr>
            <p:ph type="title"/>
          </p:nvPr>
        </p:nvSpPr>
        <p:spPr>
          <a:xfrm>
            <a:off x="233280" y="780120"/>
            <a:ext cx="11957760" cy="4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2500" spc="-1" strike="noStrike">
                <a:solidFill>
                  <a:srgbClr val="0000b3"/>
                </a:solidFill>
                <a:latin typeface="Arial"/>
              </a:rPr>
              <a:t>The AI-Powered Test Automation Platform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Rounded Rectangle 1001"/>
          <p:cNvSpPr/>
          <p:nvPr/>
        </p:nvSpPr>
        <p:spPr>
          <a:xfrm>
            <a:off x="233280" y="1325160"/>
            <a:ext cx="619560" cy="33480"/>
          </a:xfrm>
          <a:prstGeom prst="roundRect">
            <a:avLst>
              <a:gd name="adj" fmla="val 50000"/>
            </a:avLst>
          </a:prstGeom>
          <a:solidFill>
            <a:srgbClr val="6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0880" bIns="-2088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48" name="TextBox 1002"/>
          <p:cNvSpPr/>
          <p:nvPr/>
        </p:nvSpPr>
        <p:spPr>
          <a:xfrm>
            <a:off x="609480" y="1419840"/>
            <a:ext cx="109728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666666"/>
                </a:solidFill>
                <a:latin typeface="DM Sans"/>
              </a:rPr>
              <a:t>One system. Four inputs in — a working test suite out.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TextBox 1003"/>
          <p:cNvSpPr/>
          <p:nvPr/>
        </p:nvSpPr>
        <p:spPr>
          <a:xfrm>
            <a:off x="609480" y="1950120"/>
            <a:ext cx="26496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b3"/>
                </a:solidFill>
                <a:latin typeface="Arial"/>
              </a:rPr>
              <a:t>INPUTS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Rounded Rectangle 1004"/>
          <p:cNvSpPr/>
          <p:nvPr/>
        </p:nvSpPr>
        <p:spPr>
          <a:xfrm>
            <a:off x="609480" y="2400120"/>
            <a:ext cx="2649600" cy="619560"/>
          </a:xfrm>
          <a:prstGeom prst="roundRect">
            <a:avLst>
              <a:gd name="adj" fmla="val 10000"/>
            </a:avLst>
          </a:prstGeom>
          <a:solidFill>
            <a:srgbClr val="eaeefb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rIns="799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0000b3"/>
                </a:solidFill>
                <a:latin typeface="Arial"/>
              </a:rPr>
              <a:t>Project Name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Rounded Rectangle 1005"/>
          <p:cNvSpPr/>
          <p:nvPr/>
        </p:nvSpPr>
        <p:spPr>
          <a:xfrm>
            <a:off x="609480" y="3170160"/>
            <a:ext cx="2649600" cy="619560"/>
          </a:xfrm>
          <a:prstGeom prst="roundRect">
            <a:avLst>
              <a:gd name="adj" fmla="val 10000"/>
            </a:avLst>
          </a:prstGeom>
          <a:solidFill>
            <a:srgbClr val="eaeefb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rIns="799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0000b3"/>
                </a:solidFill>
                <a:latin typeface="Arial"/>
              </a:rPr>
              <a:t>Application URL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Rounded Rectangle 1006"/>
          <p:cNvSpPr/>
          <p:nvPr/>
        </p:nvSpPr>
        <p:spPr>
          <a:xfrm>
            <a:off x="609480" y="3939840"/>
            <a:ext cx="2649600" cy="619560"/>
          </a:xfrm>
          <a:prstGeom prst="roundRect">
            <a:avLst>
              <a:gd name="adj" fmla="val 10000"/>
            </a:avLst>
          </a:prstGeom>
          <a:solidFill>
            <a:srgbClr val="eaeefb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rIns="799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0000b3"/>
                </a:solidFill>
                <a:latin typeface="Arial"/>
              </a:rPr>
              <a:t>Login Credentials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Rounded Rectangle 1007"/>
          <p:cNvSpPr/>
          <p:nvPr/>
        </p:nvSpPr>
        <p:spPr>
          <a:xfrm>
            <a:off x="609480" y="4709880"/>
            <a:ext cx="2649600" cy="619560"/>
          </a:xfrm>
          <a:prstGeom prst="roundRect">
            <a:avLst>
              <a:gd name="adj" fmla="val 10000"/>
            </a:avLst>
          </a:prstGeom>
          <a:solidFill>
            <a:srgbClr val="eaeefb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rIns="799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0000b3"/>
                </a:solidFill>
                <a:latin typeface="Arial"/>
              </a:rPr>
              <a:t>Test-Case Sheet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Right Arrow 1008"/>
          <p:cNvSpPr/>
          <p:nvPr/>
        </p:nvSpPr>
        <p:spPr>
          <a:xfrm>
            <a:off x="3389400" y="3409920"/>
            <a:ext cx="459720" cy="459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55" name="Rounded Rectangle 1009"/>
          <p:cNvSpPr/>
          <p:nvPr/>
        </p:nvSpPr>
        <p:spPr>
          <a:xfrm>
            <a:off x="3979440" y="1950120"/>
            <a:ext cx="4232880" cy="3379680"/>
          </a:xfrm>
          <a:prstGeom prst="roundRect">
            <a:avLst>
              <a:gd name="adj" fmla="val 10000"/>
            </a:avLst>
          </a:prstGeom>
          <a:solidFill>
            <a:srgbClr val="0000b3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56" name="Oval 1010"/>
          <p:cNvSpPr/>
          <p:nvPr/>
        </p:nvSpPr>
        <p:spPr>
          <a:xfrm>
            <a:off x="5785920" y="2160000"/>
            <a:ext cx="619560" cy="619560"/>
          </a:xfrm>
          <a:prstGeom prst="ellipse">
            <a:avLst/>
          </a:prstGeom>
          <a:solidFill>
            <a:srgbClr val="12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AI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TextBox 1011"/>
          <p:cNvSpPr/>
          <p:nvPr/>
        </p:nvSpPr>
        <p:spPr>
          <a:xfrm>
            <a:off x="4159440" y="2850120"/>
            <a:ext cx="387288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1" lang="en-US" sz="1350" spc="-1" strike="noStrike">
                <a:solidFill>
                  <a:srgbClr val="ffffff"/>
                </a:solidFill>
                <a:latin typeface="Arial"/>
              </a:rPr>
              <a:t>AI-POWERED TEST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350" spc="-1" strike="noStrike">
                <a:solidFill>
                  <a:srgbClr val="ffffff"/>
                </a:solidFill>
                <a:latin typeface="Arial"/>
              </a:rPr>
              <a:t>AUTOMATION PLATFORM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Rounded Rectangle 1012"/>
          <p:cNvSpPr/>
          <p:nvPr/>
        </p:nvSpPr>
        <p:spPr>
          <a:xfrm>
            <a:off x="4179600" y="3510000"/>
            <a:ext cx="890280" cy="619560"/>
          </a:xfrm>
          <a:prstGeom prst="roundRect">
            <a:avLst>
              <a:gd name="adj" fmla="val 16000"/>
            </a:avLst>
          </a:prstGeom>
          <a:solidFill>
            <a:srgbClr val="618bff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rIns="799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ffffff"/>
                </a:solidFill>
                <a:latin typeface="Arial"/>
              </a:rPr>
              <a:t>READ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Rounded Rectangle 1013"/>
          <p:cNvSpPr/>
          <p:nvPr/>
        </p:nvSpPr>
        <p:spPr>
          <a:xfrm>
            <a:off x="5160240" y="3510000"/>
            <a:ext cx="890280" cy="619560"/>
          </a:xfrm>
          <a:prstGeom prst="roundRect">
            <a:avLst>
              <a:gd name="adj" fmla="val 16000"/>
            </a:avLst>
          </a:prstGeom>
          <a:solidFill>
            <a:srgbClr val="618bff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rIns="799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ffffff"/>
                </a:solidFill>
                <a:latin typeface="Arial"/>
              </a:rPr>
              <a:t>WRITE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Rounded Rectangle 1014"/>
          <p:cNvSpPr/>
          <p:nvPr/>
        </p:nvSpPr>
        <p:spPr>
          <a:xfrm>
            <a:off x="6140880" y="3510000"/>
            <a:ext cx="890280" cy="619560"/>
          </a:xfrm>
          <a:prstGeom prst="roundRect">
            <a:avLst>
              <a:gd name="adj" fmla="val 16000"/>
            </a:avLst>
          </a:prstGeom>
          <a:solidFill>
            <a:srgbClr val="618bff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rIns="799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ffffff"/>
                </a:solidFill>
                <a:latin typeface="Arial"/>
              </a:rPr>
              <a:t>VERIFY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Rounded Rectangle 1015"/>
          <p:cNvSpPr/>
          <p:nvPr/>
        </p:nvSpPr>
        <p:spPr>
          <a:xfrm>
            <a:off x="7121880" y="3510000"/>
            <a:ext cx="890280" cy="619560"/>
          </a:xfrm>
          <a:prstGeom prst="roundRect">
            <a:avLst>
              <a:gd name="adj" fmla="val 16000"/>
            </a:avLst>
          </a:prstGeom>
          <a:solidFill>
            <a:srgbClr val="618bff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rIns="799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ffffff"/>
                </a:solidFill>
                <a:latin typeface="Arial"/>
              </a:rPr>
              <a:t>DELIVER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62" name="Connector 1016"/>
          <p:cNvCxnSpPr/>
          <p:nvPr/>
        </p:nvCxnSpPr>
        <p:spPr>
          <a:xfrm>
            <a:off x="4624560" y="3819960"/>
            <a:ext cx="2942640" cy="360"/>
          </a:xfrm>
          <a:prstGeom prst="straightConnector1">
            <a:avLst/>
          </a:prstGeom>
          <a:ln w="19050">
            <a:solidFill>
              <a:srgbClr val="0000b3"/>
            </a:solidFill>
          </a:ln>
        </p:spPr>
      </p:cxnSp>
      <p:sp>
        <p:nvSpPr>
          <p:cNvPr id="563" name="TextBox 1017"/>
          <p:cNvSpPr/>
          <p:nvPr/>
        </p:nvSpPr>
        <p:spPr>
          <a:xfrm>
            <a:off x="4159440" y="4349880"/>
            <a:ext cx="38728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618bff"/>
                </a:solidFill>
                <a:latin typeface="Arial"/>
              </a:rPr>
              <a:t>Reads  →  Writes  →  Verifies  →  Delivers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Right Arrow 1018"/>
          <p:cNvSpPr/>
          <p:nvPr/>
        </p:nvSpPr>
        <p:spPr>
          <a:xfrm>
            <a:off x="8342640" y="3409920"/>
            <a:ext cx="459720" cy="459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65" name="TextBox 1019"/>
          <p:cNvSpPr/>
          <p:nvPr/>
        </p:nvSpPr>
        <p:spPr>
          <a:xfrm>
            <a:off x="8932680" y="1950120"/>
            <a:ext cx="26496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b3"/>
                </a:solidFill>
                <a:latin typeface="Arial"/>
              </a:rPr>
              <a:t>OUTPUTS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Rounded Rectangle 1020"/>
          <p:cNvSpPr/>
          <p:nvPr/>
        </p:nvSpPr>
        <p:spPr>
          <a:xfrm>
            <a:off x="8932680" y="2400120"/>
            <a:ext cx="2649600" cy="619560"/>
          </a:xfrm>
          <a:prstGeom prst="roundRect">
            <a:avLst>
              <a:gd name="adj" fmla="val 10000"/>
            </a:avLst>
          </a:prstGeom>
          <a:solidFill>
            <a:srgbClr val="eaeefb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rIns="799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0000b3"/>
                </a:solidFill>
                <a:latin typeface="Arial"/>
              </a:rPr>
              <a:t>Test Scripts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Rounded Rectangle 1021"/>
          <p:cNvSpPr/>
          <p:nvPr/>
        </p:nvSpPr>
        <p:spPr>
          <a:xfrm>
            <a:off x="8932680" y="3170160"/>
            <a:ext cx="2649600" cy="619560"/>
          </a:xfrm>
          <a:prstGeom prst="roundRect">
            <a:avLst>
              <a:gd name="adj" fmla="val 10000"/>
            </a:avLst>
          </a:prstGeom>
          <a:solidFill>
            <a:srgbClr val="eaeefb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rIns="799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0000b3"/>
                </a:solidFill>
                <a:latin typeface="Arial"/>
              </a:rPr>
              <a:t>Test Data &amp; Config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Rounded Rectangle 1022"/>
          <p:cNvSpPr/>
          <p:nvPr/>
        </p:nvSpPr>
        <p:spPr>
          <a:xfrm>
            <a:off x="8932680" y="3939840"/>
            <a:ext cx="2649600" cy="619560"/>
          </a:xfrm>
          <a:prstGeom prst="roundRect">
            <a:avLst>
              <a:gd name="adj" fmla="val 10000"/>
            </a:avLst>
          </a:prstGeom>
          <a:solidFill>
            <a:srgbClr val="eaeefb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rIns="799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0000b3"/>
                </a:solidFill>
                <a:latin typeface="Arial"/>
              </a:rPr>
              <a:t>Compiled &amp; Verified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Rounded Rectangle 1023"/>
          <p:cNvSpPr/>
          <p:nvPr/>
        </p:nvSpPr>
        <p:spPr>
          <a:xfrm>
            <a:off x="8932680" y="4709880"/>
            <a:ext cx="2649600" cy="619560"/>
          </a:xfrm>
          <a:prstGeom prst="roundRect">
            <a:avLst>
              <a:gd name="adj" fmla="val 10000"/>
            </a:avLst>
          </a:prstGeom>
          <a:solidFill>
            <a:srgbClr val="eaeefb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rIns="799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0000b3"/>
                </a:solidFill>
                <a:latin typeface="Arial"/>
              </a:rPr>
              <a:t>Ready-to-Run Package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Box 1024"/>
          <p:cNvSpPr/>
          <p:nvPr/>
        </p:nvSpPr>
        <p:spPr>
          <a:xfrm>
            <a:off x="609480" y="5529960"/>
            <a:ext cx="109728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150" spc="-1" strike="noStrike">
                <a:solidFill>
                  <a:srgbClr val="666666"/>
                </a:solidFill>
                <a:latin typeface="DM Sans"/>
              </a:rPr>
              <a:t>Same inputs, same process — 2 test cases or 200.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TextBox 1"/>
          <p:cNvSpPr/>
          <p:nvPr/>
        </p:nvSpPr>
        <p:spPr>
          <a:xfrm>
            <a:off x="233280" y="519840"/>
            <a:ext cx="109728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50" spc="137" strike="noStrike">
                <a:solidFill>
                  <a:srgbClr val="e08200"/>
                </a:solidFill>
                <a:latin typeface="Arial"/>
              </a:rPr>
              <a:t>UNDER THE HOOD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233280" y="780120"/>
            <a:ext cx="11957760" cy="4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2500" spc="-1" strike="noStrike">
                <a:solidFill>
                  <a:srgbClr val="0000b3"/>
                </a:solidFill>
                <a:latin typeface="Arial"/>
              </a:rPr>
              <a:t>How It Works: Inside the Engine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Rounded Rectangle 1002"/>
          <p:cNvSpPr/>
          <p:nvPr/>
        </p:nvSpPr>
        <p:spPr>
          <a:xfrm>
            <a:off x="233280" y="1325160"/>
            <a:ext cx="619560" cy="33480"/>
          </a:xfrm>
          <a:prstGeom prst="roundRect">
            <a:avLst>
              <a:gd name="adj" fmla="val 50000"/>
            </a:avLst>
          </a:prstGeom>
          <a:solidFill>
            <a:srgbClr val="6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0880" bIns="-2088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74" name="TextBox 1003"/>
          <p:cNvSpPr/>
          <p:nvPr/>
        </p:nvSpPr>
        <p:spPr>
          <a:xfrm>
            <a:off x="609480" y="1419840"/>
            <a:ext cx="109728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666666"/>
                </a:solidFill>
                <a:latin typeface="DM Sans"/>
              </a:rPr>
              <a:t>A technical view of the mechanism, block by block.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Rounded Rectangle 1004"/>
          <p:cNvSpPr/>
          <p:nvPr/>
        </p:nvSpPr>
        <p:spPr>
          <a:xfrm>
            <a:off x="609480" y="1950120"/>
            <a:ext cx="3490560" cy="679680"/>
          </a:xfrm>
          <a:prstGeom prst="roundRect">
            <a:avLst>
              <a:gd name="adj" fmla="val 10000"/>
            </a:avLst>
          </a:prstGeom>
          <a:solidFill>
            <a:srgbClr val="eaeefb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rIns="799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0000b3"/>
                </a:solidFill>
                <a:latin typeface="Arial"/>
              </a:rPr>
              <a:t>Test-Case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0000b3"/>
                </a:solidFill>
                <a:latin typeface="Arial"/>
              </a:rPr>
              <a:t>Sheet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Rounded Rectangle 1005"/>
          <p:cNvSpPr/>
          <p:nvPr/>
        </p:nvSpPr>
        <p:spPr>
          <a:xfrm>
            <a:off x="4350600" y="1950120"/>
            <a:ext cx="3490560" cy="679680"/>
          </a:xfrm>
          <a:prstGeom prst="roundRect">
            <a:avLst>
              <a:gd name="adj" fmla="val 10000"/>
            </a:avLst>
          </a:prstGeom>
          <a:solidFill>
            <a:srgbClr val="eaeefb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rIns="799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0000b3"/>
                </a:solidFill>
                <a:latin typeface="Arial"/>
              </a:rPr>
              <a:t>Framework Skill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0000b3"/>
                </a:solidFill>
                <a:latin typeface="Arial"/>
              </a:rPr>
              <a:t>&amp; Templates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Rounded Rectangle 1006"/>
          <p:cNvSpPr/>
          <p:nvPr/>
        </p:nvSpPr>
        <p:spPr>
          <a:xfrm>
            <a:off x="8091360" y="1950120"/>
            <a:ext cx="3490560" cy="679680"/>
          </a:xfrm>
          <a:prstGeom prst="roundRect">
            <a:avLst>
              <a:gd name="adj" fmla="val 10000"/>
            </a:avLst>
          </a:prstGeom>
          <a:solidFill>
            <a:srgbClr val="eaeefb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rIns="799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0000b3"/>
                </a:solidFill>
                <a:latin typeface="Arial"/>
              </a:rPr>
              <a:t>Isolated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0000b3"/>
                </a:solidFill>
                <a:latin typeface="Arial"/>
              </a:rPr>
              <a:t>Workspace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Down Arrow 1007"/>
          <p:cNvSpPr/>
          <p:nvPr/>
        </p:nvSpPr>
        <p:spPr>
          <a:xfrm>
            <a:off x="2225160" y="2670120"/>
            <a:ext cx="259560" cy="3196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8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79" name="Down Arrow 1008"/>
          <p:cNvSpPr/>
          <p:nvPr/>
        </p:nvSpPr>
        <p:spPr>
          <a:xfrm>
            <a:off x="5965920" y="2670120"/>
            <a:ext cx="259560" cy="3196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8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80" name="Down Arrow 1009"/>
          <p:cNvSpPr/>
          <p:nvPr/>
        </p:nvSpPr>
        <p:spPr>
          <a:xfrm>
            <a:off x="9707040" y="2670120"/>
            <a:ext cx="259560" cy="3196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8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81" name="Rounded Rectangle 1010"/>
          <p:cNvSpPr/>
          <p:nvPr/>
        </p:nvSpPr>
        <p:spPr>
          <a:xfrm>
            <a:off x="609480" y="3030120"/>
            <a:ext cx="10972800" cy="819720"/>
          </a:xfrm>
          <a:prstGeom prst="roundRect">
            <a:avLst>
              <a:gd name="adj" fmla="val 12000"/>
            </a:avLst>
          </a:prstGeom>
          <a:solidFill>
            <a:srgbClr val="0000b3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82" name="TextBox 1011"/>
          <p:cNvSpPr/>
          <p:nvPr/>
        </p:nvSpPr>
        <p:spPr>
          <a:xfrm>
            <a:off x="609480" y="3197160"/>
            <a:ext cx="109728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AI AGENT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b="1" lang="en-US" sz="1050" spc="-1" strike="noStrike">
                <a:solidFill>
                  <a:srgbClr val="618bff"/>
                </a:solidFill>
                <a:latin typeface="Arial"/>
              </a:rPr>
              <a:t>Reads  ·  Writes  ·  Compiles  ·  Fixes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Rounded Rectangle 1012"/>
          <p:cNvSpPr/>
          <p:nvPr/>
        </p:nvSpPr>
        <p:spPr>
          <a:xfrm>
            <a:off x="8982720" y="2859840"/>
            <a:ext cx="2599560" cy="339480"/>
          </a:xfrm>
          <a:prstGeom prst="roundRect">
            <a:avLst>
              <a:gd name="adj" fmla="val 50000"/>
            </a:avLst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69840" rIns="6984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ffffff"/>
                </a:solidFill>
                <a:latin typeface="Arial"/>
              </a:rPr>
              <a:t>⏱ </a:t>
            </a:r>
            <a:r>
              <a:rPr b="1" lang="en-US" sz="950" spc="-1" strike="noStrike">
                <a:solidFill>
                  <a:srgbClr val="ffffff"/>
                </a:solidFill>
                <a:latin typeface="Arial"/>
              </a:rPr>
              <a:t>CAPPED COST &amp; TIME BUDGET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Down Arrow 1013"/>
          <p:cNvSpPr/>
          <p:nvPr/>
        </p:nvSpPr>
        <p:spPr>
          <a:xfrm>
            <a:off x="3866040" y="3880080"/>
            <a:ext cx="259560" cy="5194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8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85" name="Up Arrow 1014"/>
          <p:cNvSpPr/>
          <p:nvPr/>
        </p:nvSpPr>
        <p:spPr>
          <a:xfrm>
            <a:off x="4266000" y="3880080"/>
            <a:ext cx="259560" cy="51948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86" name="TextBox 1015"/>
          <p:cNvSpPr/>
          <p:nvPr/>
        </p:nvSpPr>
        <p:spPr>
          <a:xfrm>
            <a:off x="3016080" y="3909960"/>
            <a:ext cx="84960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666666"/>
                </a:solidFill>
                <a:latin typeface="Arial"/>
              </a:rPr>
              <a:t>runs the build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TextBox 1016"/>
          <p:cNvSpPr/>
          <p:nvPr/>
        </p:nvSpPr>
        <p:spPr>
          <a:xfrm>
            <a:off x="4536000" y="3909960"/>
            <a:ext cx="9997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50" spc="-1" strike="noStrike">
                <a:solidFill>
                  <a:srgbClr val="b56300"/>
                </a:solidFill>
                <a:latin typeface="Arial"/>
              </a:rPr>
              <a:t>fixes its own errors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Rounded Rectangle 1017"/>
          <p:cNvSpPr/>
          <p:nvPr/>
        </p:nvSpPr>
        <p:spPr>
          <a:xfrm>
            <a:off x="2545920" y="4439880"/>
            <a:ext cx="3299760" cy="849600"/>
          </a:xfrm>
          <a:prstGeom prst="roundRect">
            <a:avLst>
              <a:gd name="adj" fmla="val 10000"/>
            </a:avLst>
          </a:prstGeom>
          <a:solidFill>
            <a:srgbClr val="f2f3fa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rIns="799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50" spc="-1" strike="noStrike">
                <a:solidFill>
                  <a:srgbClr val="0000b3"/>
                </a:solidFill>
                <a:latin typeface="Arial"/>
              </a:rPr>
              <a:t>COMPILE &amp; TEST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b="0" lang="en-US" sz="900" spc="-1" strike="noStrike">
                <a:solidFill>
                  <a:srgbClr val="666666"/>
                </a:solidFill>
                <a:latin typeface="DM Sans"/>
              </a:rPr>
              <a:t>checks its own work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Right Arrow 1018"/>
          <p:cNvSpPr/>
          <p:nvPr/>
        </p:nvSpPr>
        <p:spPr>
          <a:xfrm>
            <a:off x="5886000" y="4735080"/>
            <a:ext cx="419760" cy="259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2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90" name="TextBox 1019"/>
          <p:cNvSpPr/>
          <p:nvPr/>
        </p:nvSpPr>
        <p:spPr>
          <a:xfrm>
            <a:off x="5825880" y="4140000"/>
            <a:ext cx="53964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2c6b3"/>
                </a:solidFill>
                <a:latin typeface="Arial"/>
              </a:rPr>
              <a:t>✓ </a:t>
            </a:r>
            <a:r>
              <a:rPr b="1" lang="en-US" sz="900" spc="-1" strike="noStrike">
                <a:solidFill>
                  <a:srgbClr val="12c6b3"/>
                </a:solidFill>
                <a:latin typeface="Arial"/>
              </a:rPr>
              <a:t>compiles clean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Rounded Rectangle 1020"/>
          <p:cNvSpPr/>
          <p:nvPr/>
        </p:nvSpPr>
        <p:spPr>
          <a:xfrm>
            <a:off x="6346080" y="4439880"/>
            <a:ext cx="3299760" cy="849600"/>
          </a:xfrm>
          <a:prstGeom prst="roundRect">
            <a:avLst>
              <a:gd name="adj" fmla="val 10000"/>
            </a:avLst>
          </a:prstGeom>
          <a:solidFill>
            <a:srgbClr val="12c6b3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rIns="799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Arial"/>
              </a:rPr>
              <a:t>PACKAGED OUTPUT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b="0" lang="en-US" sz="900" spc="-1" strike="noStrike">
                <a:solidFill>
                  <a:srgbClr val="e8fffb"/>
                </a:solidFill>
                <a:latin typeface="DM Sans"/>
              </a:rPr>
              <a:t>ready-to-run zip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TextBox 1021"/>
          <p:cNvSpPr/>
          <p:nvPr/>
        </p:nvSpPr>
        <p:spPr>
          <a:xfrm>
            <a:off x="609480" y="5450040"/>
            <a:ext cx="10972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666666"/>
                </a:solidFill>
                <a:latin typeface="DM Sans"/>
              </a:rPr>
              <a:t>Fails  →  fixes itself  →  tries again — until it's clean.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TextBox 1"/>
          <p:cNvSpPr/>
          <p:nvPr/>
        </p:nvSpPr>
        <p:spPr>
          <a:xfrm>
            <a:off x="233280" y="519840"/>
            <a:ext cx="109728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50" spc="137" strike="noStrike">
                <a:solidFill>
                  <a:srgbClr val="e08200"/>
                </a:solidFill>
                <a:latin typeface="Arial"/>
              </a:rPr>
              <a:t>THE AI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PlaceHolder 1"/>
          <p:cNvSpPr>
            <a:spLocks noGrp="1"/>
          </p:cNvSpPr>
          <p:nvPr>
            <p:ph type="title"/>
          </p:nvPr>
        </p:nvSpPr>
        <p:spPr>
          <a:xfrm>
            <a:off x="233280" y="780120"/>
            <a:ext cx="11957760" cy="4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2500" spc="-1" strike="noStrike">
                <a:solidFill>
                  <a:srgbClr val="0000b3"/>
                </a:solidFill>
                <a:latin typeface="Arial"/>
              </a:rPr>
              <a:t>Only One Engine Could Drive Itself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Rounded Rectangle 1003"/>
          <p:cNvSpPr/>
          <p:nvPr/>
        </p:nvSpPr>
        <p:spPr>
          <a:xfrm>
            <a:off x="233280" y="1325160"/>
            <a:ext cx="619560" cy="33480"/>
          </a:xfrm>
          <a:prstGeom prst="roundRect">
            <a:avLst>
              <a:gd name="adj" fmla="val 50000"/>
            </a:avLst>
          </a:prstGeom>
          <a:solidFill>
            <a:srgbClr val="6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0880" bIns="-2088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96" name="TextBox 1004"/>
          <p:cNvSpPr/>
          <p:nvPr/>
        </p:nvSpPr>
        <p:spPr>
          <a:xfrm>
            <a:off x="609480" y="1419840"/>
            <a:ext cx="109728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666666"/>
                </a:solidFill>
                <a:latin typeface="DM Sans"/>
              </a:rPr>
              <a:t>The bar: read and rewrite any file, run its own build, and keep fixing itself — unsupervised, for as long as it takes.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Rounded Rectangle 1005"/>
          <p:cNvSpPr/>
          <p:nvPr/>
        </p:nvSpPr>
        <p:spPr>
          <a:xfrm>
            <a:off x="609480" y="1980000"/>
            <a:ext cx="2577960" cy="2599560"/>
          </a:xfrm>
          <a:prstGeom prst="roundRect">
            <a:avLst>
              <a:gd name="adj" fmla="val 6000"/>
            </a:avLst>
          </a:prstGeom>
          <a:solidFill>
            <a:srgbClr val="f0f1f5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98" name="Rounded Rectangle 1006"/>
          <p:cNvSpPr/>
          <p:nvPr/>
        </p:nvSpPr>
        <p:spPr>
          <a:xfrm>
            <a:off x="769320" y="2160000"/>
            <a:ext cx="2257920" cy="339480"/>
          </a:xfrm>
          <a:prstGeom prst="roundRect">
            <a:avLst>
              <a:gd name="adj" fmla="val 50000"/>
            </a:avLst>
          </a:prstGeom>
          <a:solidFill>
            <a:srgbClr val="8a9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69840" rIns="6984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ffffff"/>
                </a:solidFill>
                <a:latin typeface="Arial"/>
              </a:rPr>
              <a:t>SET ASIDE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TextBox 1007"/>
          <p:cNvSpPr/>
          <p:nvPr/>
        </p:nvSpPr>
        <p:spPr>
          <a:xfrm>
            <a:off x="779400" y="2589840"/>
            <a:ext cx="22377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666666"/>
                </a:solidFill>
                <a:latin typeface="Arial"/>
              </a:rPr>
              <a:t>GitHub Copilot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TextBox 1008"/>
          <p:cNvSpPr/>
          <p:nvPr/>
        </p:nvSpPr>
        <p:spPr>
          <a:xfrm>
            <a:off x="779400" y="2890080"/>
            <a:ext cx="223776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0000b3"/>
                </a:solidFill>
                <a:latin typeface="Arial"/>
              </a:rPr>
              <a:t>A Great Co-Pilot — Not an Autopilot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TextBox 1009"/>
          <p:cNvSpPr/>
          <p:nvPr/>
        </p:nvSpPr>
        <p:spPr>
          <a:xfrm>
            <a:off x="779400" y="3420000"/>
            <a:ext cx="2237760" cy="8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Suggests code one file at a time, with a human still at the wheel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Never opens a terminal itself — someone else has to run the build and react to it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Rounded Rectangle 1010"/>
          <p:cNvSpPr/>
          <p:nvPr/>
        </p:nvSpPr>
        <p:spPr>
          <a:xfrm>
            <a:off x="3407760" y="1980000"/>
            <a:ext cx="2577960" cy="2599560"/>
          </a:xfrm>
          <a:prstGeom prst="roundRect">
            <a:avLst>
              <a:gd name="adj" fmla="val 6000"/>
            </a:avLst>
          </a:prstGeom>
          <a:solidFill>
            <a:srgbClr val="f0f1f5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03" name="Rounded Rectangle 1011"/>
          <p:cNvSpPr/>
          <p:nvPr/>
        </p:nvSpPr>
        <p:spPr>
          <a:xfrm>
            <a:off x="3567600" y="2160000"/>
            <a:ext cx="2257920" cy="339480"/>
          </a:xfrm>
          <a:prstGeom prst="roundRect">
            <a:avLst>
              <a:gd name="adj" fmla="val 50000"/>
            </a:avLst>
          </a:prstGeom>
          <a:solidFill>
            <a:srgbClr val="8a9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69840" rIns="6984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ffffff"/>
                </a:solidFill>
                <a:latin typeface="Arial"/>
              </a:rPr>
              <a:t>SET ASIDE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4" name="TextBox 1012"/>
          <p:cNvSpPr/>
          <p:nvPr/>
        </p:nvSpPr>
        <p:spPr>
          <a:xfrm>
            <a:off x="3577680" y="2589840"/>
            <a:ext cx="22377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666666"/>
                </a:solidFill>
                <a:latin typeface="Arial"/>
              </a:rPr>
              <a:t>Copilot Studio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TextBox 1013"/>
          <p:cNvSpPr/>
          <p:nvPr/>
        </p:nvSpPr>
        <p:spPr>
          <a:xfrm>
            <a:off x="3577680" y="2890080"/>
            <a:ext cx="223776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0000b3"/>
                </a:solidFill>
                <a:latin typeface="Arial"/>
              </a:rPr>
              <a:t>Built for Conversations, Not Codebases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TextBox 1014"/>
          <p:cNvSpPr/>
          <p:nvPr/>
        </p:nvSpPr>
        <p:spPr>
          <a:xfrm>
            <a:off x="3577680" y="3420000"/>
            <a:ext cx="2237760" cy="7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Built around chat flows and connectors, not a live project's file tree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No native way to compile anything or act on what the compiler says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Rounded Rectangle 1015"/>
          <p:cNvSpPr/>
          <p:nvPr/>
        </p:nvSpPr>
        <p:spPr>
          <a:xfrm>
            <a:off x="6206040" y="1980000"/>
            <a:ext cx="2577960" cy="259956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 w="9525">
            <a:solidFill>
              <a:srgbClr val="0000b3"/>
            </a:solidFill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08" name="Rounded Rectangle 1016"/>
          <p:cNvSpPr/>
          <p:nvPr/>
        </p:nvSpPr>
        <p:spPr>
          <a:xfrm>
            <a:off x="6365880" y="2160000"/>
            <a:ext cx="2257920" cy="339480"/>
          </a:xfrm>
          <a:prstGeom prst="roundRect">
            <a:avLst>
              <a:gd name="adj" fmla="val 50000"/>
            </a:avLst>
          </a:prstGeom>
          <a:solidFill>
            <a:srgbClr val="12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69840" rIns="6984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ffffff"/>
                </a:solidFill>
                <a:latin typeface="Arial"/>
              </a:rPr>
              <a:t>SELECTED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TextBox 1017"/>
          <p:cNvSpPr/>
          <p:nvPr/>
        </p:nvSpPr>
        <p:spPr>
          <a:xfrm>
            <a:off x="6375960" y="2589840"/>
            <a:ext cx="22377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666666"/>
                </a:solidFill>
                <a:latin typeface="Arial"/>
              </a:rPr>
              <a:t>Claude SDK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TextBox 1018"/>
          <p:cNvSpPr/>
          <p:nvPr/>
        </p:nvSpPr>
        <p:spPr>
          <a:xfrm>
            <a:off x="6375960" y="2890080"/>
            <a:ext cx="223776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0000b3"/>
                </a:solidFill>
                <a:latin typeface="Arial"/>
              </a:rPr>
              <a:t>The Only One That Could Own the Whole Loop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Box 1019"/>
          <p:cNvSpPr/>
          <p:nvPr/>
        </p:nvSpPr>
        <p:spPr>
          <a:xfrm>
            <a:off x="6375960" y="3420000"/>
            <a:ext cx="2237760" cy="8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Full read/write reach across the project, plus a real command line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Kicks off the build itself and keeps iterating for dozens of turns, no hand-holding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Rounded Rectangle 1020"/>
          <p:cNvSpPr/>
          <p:nvPr/>
        </p:nvSpPr>
        <p:spPr>
          <a:xfrm>
            <a:off x="9004320" y="1980000"/>
            <a:ext cx="2577960" cy="259956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 w="9525">
            <a:solidFill>
              <a:srgbClr val="ffa500"/>
            </a:solidFill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13" name="Rounded Rectangle 1021"/>
          <p:cNvSpPr/>
          <p:nvPr/>
        </p:nvSpPr>
        <p:spPr>
          <a:xfrm>
            <a:off x="9164160" y="2160000"/>
            <a:ext cx="2257920" cy="339480"/>
          </a:xfrm>
          <a:prstGeom prst="roundRect">
            <a:avLst>
              <a:gd name="adj" fmla="val 50000"/>
            </a:avLst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69840" rIns="6984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ffffff"/>
                </a:solidFill>
                <a:latin typeface="Arial"/>
              </a:rPr>
              <a:t>NOT YET EXPLORED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TextBox 1022"/>
          <p:cNvSpPr/>
          <p:nvPr/>
        </p:nvSpPr>
        <p:spPr>
          <a:xfrm>
            <a:off x="9174240" y="2589840"/>
            <a:ext cx="22377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666666"/>
                </a:solidFill>
                <a:latin typeface="Arial"/>
              </a:rPr>
              <a:t>Chromosome AI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Box 1023"/>
          <p:cNvSpPr/>
          <p:nvPr/>
        </p:nvSpPr>
        <p:spPr>
          <a:xfrm>
            <a:off x="9174240" y="2890080"/>
            <a:ext cx="223776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0000b3"/>
                </a:solidFill>
                <a:latin typeface="Arial"/>
              </a:rPr>
              <a:t>The Org's Own Engine — Still Untested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TextBox 1024"/>
          <p:cNvSpPr/>
          <p:nvPr/>
        </p:nvSpPr>
        <p:spPr>
          <a:xfrm>
            <a:off x="9174240" y="3420000"/>
            <a:ext cx="2237760" cy="7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Same three bars still need to be checked here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Access request in progress — this is next, not yet evaluated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TextBox 1025"/>
          <p:cNvSpPr/>
          <p:nvPr/>
        </p:nvSpPr>
        <p:spPr>
          <a:xfrm>
            <a:off x="609480" y="4780080"/>
            <a:ext cx="109728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150" spc="-1" strike="noStrike">
                <a:solidFill>
                  <a:srgbClr val="666666"/>
                </a:solidFill>
                <a:latin typeface="DM Sans"/>
              </a:rPr>
              <a:t>The platform is built on Claude SDK today — Chromosome AI is the next engine in line to prove itself.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TextBox 1"/>
          <p:cNvSpPr/>
          <p:nvPr/>
        </p:nvSpPr>
        <p:spPr>
          <a:xfrm>
            <a:off x="233280" y="519840"/>
            <a:ext cx="109728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50" spc="137" strike="noStrike">
                <a:solidFill>
                  <a:srgbClr val="e08200"/>
                </a:solidFill>
                <a:latin typeface="Arial"/>
              </a:rPr>
              <a:t>THE PAYOFF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PlaceHolder 1"/>
          <p:cNvSpPr>
            <a:spLocks noGrp="1"/>
          </p:cNvSpPr>
          <p:nvPr>
            <p:ph type="title"/>
          </p:nvPr>
        </p:nvSpPr>
        <p:spPr>
          <a:xfrm>
            <a:off x="233280" y="780120"/>
            <a:ext cx="11957760" cy="4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2500" spc="-1" strike="noStrike">
                <a:solidFill>
                  <a:srgbClr val="0000b3"/>
                </a:solidFill>
                <a:latin typeface="Arial"/>
              </a:rPr>
              <a:t>Expected Impact: Time &amp; Effort Saved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Rounded Rectangle 1004"/>
          <p:cNvSpPr/>
          <p:nvPr/>
        </p:nvSpPr>
        <p:spPr>
          <a:xfrm>
            <a:off x="233280" y="1325160"/>
            <a:ext cx="619560" cy="33480"/>
          </a:xfrm>
          <a:prstGeom prst="roundRect">
            <a:avLst>
              <a:gd name="adj" fmla="val 50000"/>
            </a:avLst>
          </a:prstGeom>
          <a:solidFill>
            <a:srgbClr val="6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0880" bIns="-2088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21" name="TextBox 1005"/>
          <p:cNvSpPr/>
          <p:nvPr/>
        </p:nvSpPr>
        <p:spPr>
          <a:xfrm>
            <a:off x="609480" y="1419840"/>
            <a:ext cx="1097280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666666"/>
                </a:solidFill>
                <a:latin typeface="DM Sans"/>
              </a:rPr>
              <a:t>Manual test-writing effort grows with every test case a project needs. The generation engine's time barely moves — that gap is where the savings scale.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22" name="Chart 1006"/>
          <p:cNvGraphicFramePr/>
          <p:nvPr/>
        </p:nvGraphicFramePr>
        <p:xfrm>
          <a:off x="609480" y="1900080"/>
          <a:ext cx="6999480" cy="309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23" name="Rounded Rectangle 1007"/>
          <p:cNvSpPr/>
          <p:nvPr/>
        </p:nvSpPr>
        <p:spPr>
          <a:xfrm>
            <a:off x="7929360" y="1900080"/>
            <a:ext cx="3652560" cy="1999800"/>
          </a:xfrm>
          <a:prstGeom prst="roundRect">
            <a:avLst>
              <a:gd name="adj" fmla="val 6000"/>
            </a:avLst>
          </a:prstGeom>
          <a:solidFill>
            <a:srgbClr val="0000b3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24" name="TextBox 1008"/>
          <p:cNvSpPr/>
          <p:nvPr/>
        </p:nvSpPr>
        <p:spPr>
          <a:xfrm>
            <a:off x="8169480" y="2130120"/>
            <a:ext cx="3172680" cy="95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50" spc="97" strike="noStrike">
                <a:solidFill>
                  <a:srgbClr val="618bff"/>
                </a:solidFill>
                <a:latin typeface="Arial"/>
              </a:rPr>
              <a:t>AI-ASSISTED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</a:rPr>
              <a:t>&lt; 1 day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b="0" lang="en-US" sz="1150" spc="-1" strike="noStrike">
                <a:solidFill>
                  <a:srgbClr val="d8e0ff"/>
                </a:solidFill>
                <a:latin typeface="DM Sans"/>
              </a:rPr>
              <a:t>even at 100 test cases*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Rounded Rectangle 1009"/>
          <p:cNvSpPr/>
          <p:nvPr/>
        </p:nvSpPr>
        <p:spPr>
          <a:xfrm>
            <a:off x="7929360" y="4119840"/>
            <a:ext cx="3652560" cy="87948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26" name="TextBox 1010"/>
          <p:cNvSpPr/>
          <p:nvPr/>
        </p:nvSpPr>
        <p:spPr>
          <a:xfrm>
            <a:off x="8169480" y="4320000"/>
            <a:ext cx="31726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DM Sans"/>
              </a:rPr>
              <a:t>*Projected from the pilot run's pace. Setting up the workspace and AI session is a small, mostly fixed cost — so adding more test cases adds only a little more time.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TextBox 1011"/>
          <p:cNvSpPr/>
          <p:nvPr/>
        </p:nvSpPr>
        <p:spPr>
          <a:xfrm>
            <a:off x="609480" y="5220000"/>
            <a:ext cx="1097280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i="1" lang="en-US" sz="1050" spc="-1" strike="noStrike">
                <a:solidFill>
                  <a:srgbClr val="666666"/>
                </a:solidFill>
                <a:latin typeface="DM Sans"/>
              </a:rPr>
              <a:t>Manual estimate: ~0.5 engineer-day per test case, typical for locator discovery, scripting, and wiring. AI-assisted figures are extrapolated from a single pilot (2 test cases, 1 application) — confirming this holds at full scale is a near-term priority, not yet proven.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TextBox 1"/>
          <p:cNvSpPr/>
          <p:nvPr/>
        </p:nvSpPr>
        <p:spPr>
          <a:xfrm>
            <a:off x="233280" y="519840"/>
            <a:ext cx="109728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50" spc="137" strike="noStrike">
                <a:solidFill>
                  <a:srgbClr val="e08200"/>
                </a:solidFill>
                <a:latin typeface="Arial"/>
              </a:rPr>
              <a:t>MOMENTUM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PlaceHolder 1"/>
          <p:cNvSpPr>
            <a:spLocks noGrp="1"/>
          </p:cNvSpPr>
          <p:nvPr>
            <p:ph type="title"/>
          </p:nvPr>
        </p:nvSpPr>
        <p:spPr>
          <a:xfrm>
            <a:off x="233280" y="780120"/>
            <a:ext cx="11957760" cy="4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2500" spc="-1" strike="noStrike">
                <a:solidFill>
                  <a:srgbClr val="0000b3"/>
                </a:solidFill>
                <a:latin typeface="Arial"/>
              </a:rPr>
              <a:t>Built. Proven. Ready to Scale.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Rounded Rectangle 1005"/>
          <p:cNvSpPr/>
          <p:nvPr/>
        </p:nvSpPr>
        <p:spPr>
          <a:xfrm>
            <a:off x="233280" y="1325160"/>
            <a:ext cx="619560" cy="33480"/>
          </a:xfrm>
          <a:prstGeom prst="roundRect">
            <a:avLst>
              <a:gd name="adj" fmla="val 50000"/>
            </a:avLst>
          </a:prstGeom>
          <a:solidFill>
            <a:srgbClr val="6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0880" bIns="-2088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31" name="TextBox 1006"/>
          <p:cNvSpPr/>
          <p:nvPr/>
        </p:nvSpPr>
        <p:spPr>
          <a:xfrm>
            <a:off x="609480" y="1419840"/>
            <a:ext cx="109728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666666"/>
                </a:solidFill>
                <a:latin typeface="DM Sans"/>
              </a:rPr>
              <a:t>Phase 1 is done — here's the 90-day path forward, and exactly where it's currently stuck.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Rounded Rectangle 1007"/>
          <p:cNvSpPr/>
          <p:nvPr/>
        </p:nvSpPr>
        <p:spPr>
          <a:xfrm>
            <a:off x="609480" y="1980000"/>
            <a:ext cx="2330280" cy="214956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33" name="Rounded Rectangle 1008"/>
          <p:cNvSpPr/>
          <p:nvPr/>
        </p:nvSpPr>
        <p:spPr>
          <a:xfrm>
            <a:off x="769320" y="2170080"/>
            <a:ext cx="2010240" cy="359640"/>
          </a:xfrm>
          <a:prstGeom prst="roundRect">
            <a:avLst>
              <a:gd name="adj" fmla="val 50000"/>
            </a:avLst>
          </a:prstGeom>
          <a:solidFill>
            <a:srgbClr val="12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69840" rIns="6984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COMPLETE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4" name="TextBox 1009"/>
          <p:cNvSpPr/>
          <p:nvPr/>
        </p:nvSpPr>
        <p:spPr>
          <a:xfrm>
            <a:off x="779400" y="2639880"/>
            <a:ext cx="199044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0000b3"/>
                </a:solidFill>
                <a:latin typeface="Arial"/>
              </a:rPr>
              <a:t>Foundation Built &amp; Proven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TextBox 1010"/>
          <p:cNvSpPr/>
          <p:nvPr/>
        </p:nvSpPr>
        <p:spPr>
          <a:xfrm>
            <a:off x="779400" y="3120120"/>
            <a:ext cx="199044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98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980" spc="-1" strike="noStrike">
                <a:solidFill>
                  <a:srgbClr val="222222"/>
                </a:solidFill>
                <a:latin typeface="DM Sans"/>
              </a:rPr>
              <a:t>Engine built — CLI + API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US" sz="98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980" spc="-1" strike="noStrike">
                <a:solidFill>
                  <a:srgbClr val="222222"/>
                </a:solidFill>
                <a:latin typeface="DM Sans"/>
              </a:rPr>
              <a:t>Validated on a real pilot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Octagon 1011"/>
          <p:cNvSpPr/>
          <p:nvPr/>
        </p:nvSpPr>
        <p:spPr>
          <a:xfrm>
            <a:off x="3055320" y="2694960"/>
            <a:ext cx="719640" cy="719640"/>
          </a:xfrm>
          <a:prstGeom prst="octagon">
            <a:avLst>
              <a:gd name="adj" fmla="val 29289"/>
            </a:avLst>
          </a:prstGeom>
          <a:solidFill>
            <a:srgbClr val="ffa500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080" rIns="1008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BLOCKED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Box 1012"/>
          <p:cNvSpPr/>
          <p:nvPr/>
        </p:nvSpPr>
        <p:spPr>
          <a:xfrm>
            <a:off x="2115360" y="4269960"/>
            <a:ext cx="25995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b56300"/>
                </a:solidFill>
                <a:latin typeface="Arial"/>
              </a:rPr>
              <a:t>Awaiting Chromosome AI access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Rounded Rectangle 1013"/>
          <p:cNvSpPr/>
          <p:nvPr/>
        </p:nvSpPr>
        <p:spPr>
          <a:xfrm>
            <a:off x="3890160" y="1980000"/>
            <a:ext cx="2330280" cy="214956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39" name="Rounded Rectangle 1014"/>
          <p:cNvSpPr/>
          <p:nvPr/>
        </p:nvSpPr>
        <p:spPr>
          <a:xfrm>
            <a:off x="4050360" y="2170080"/>
            <a:ext cx="2010240" cy="359640"/>
          </a:xfrm>
          <a:prstGeom prst="roundRect">
            <a:avLst>
              <a:gd name="adj" fmla="val 50000"/>
            </a:avLst>
          </a:prstGeom>
          <a:solidFill>
            <a:srgbClr val="6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69840" rIns="6984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DAY 1–30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TextBox 1015"/>
          <p:cNvSpPr/>
          <p:nvPr/>
        </p:nvSpPr>
        <p:spPr>
          <a:xfrm>
            <a:off x="4060080" y="2639880"/>
            <a:ext cx="1990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0000b3"/>
                </a:solidFill>
                <a:latin typeface="Arial"/>
              </a:rPr>
              <a:t>Unblock &amp; Prove It Live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TextBox 1016"/>
          <p:cNvSpPr/>
          <p:nvPr/>
        </p:nvSpPr>
        <p:spPr>
          <a:xfrm>
            <a:off x="4060080" y="3120120"/>
            <a:ext cx="199044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98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980" spc="-1" strike="noStrike">
                <a:solidFill>
                  <a:srgbClr val="222222"/>
                </a:solidFill>
                <a:latin typeface="DM Sans"/>
              </a:rPr>
              <a:t>Get Chromosome AI access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US" sz="98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980" spc="-1" strike="noStrike">
                <a:solidFill>
                  <a:srgbClr val="222222"/>
                </a:solidFill>
                <a:latin typeface="DM Sans"/>
              </a:rPr>
              <a:t>First live stakeholder demo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Right Arrow 1017"/>
          <p:cNvSpPr/>
          <p:nvPr/>
        </p:nvSpPr>
        <p:spPr>
          <a:xfrm>
            <a:off x="6261120" y="2925000"/>
            <a:ext cx="269640" cy="259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8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43" name="Rounded Rectangle 1018"/>
          <p:cNvSpPr/>
          <p:nvPr/>
        </p:nvSpPr>
        <p:spPr>
          <a:xfrm>
            <a:off x="6571080" y="1980000"/>
            <a:ext cx="2330280" cy="214956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44" name="Rounded Rectangle 1019"/>
          <p:cNvSpPr/>
          <p:nvPr/>
        </p:nvSpPr>
        <p:spPr>
          <a:xfrm>
            <a:off x="6730920" y="2170080"/>
            <a:ext cx="2010240" cy="359640"/>
          </a:xfrm>
          <a:prstGeom prst="roundRect">
            <a:avLst>
              <a:gd name="adj" fmla="val 50000"/>
            </a:avLst>
          </a:prstGeom>
          <a:solidFill>
            <a:srgbClr val="3d5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69840" rIns="6984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DAY 31–60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5" name="TextBox 1020"/>
          <p:cNvSpPr/>
          <p:nvPr/>
        </p:nvSpPr>
        <p:spPr>
          <a:xfrm>
            <a:off x="6741000" y="2639880"/>
            <a:ext cx="1990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0000b3"/>
                </a:solidFill>
                <a:latin typeface="Arial"/>
              </a:rPr>
              <a:t>Harden the Core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TextBox 1021"/>
          <p:cNvSpPr/>
          <p:nvPr/>
        </p:nvSpPr>
        <p:spPr>
          <a:xfrm>
            <a:off x="6741000" y="3120120"/>
            <a:ext cx="199044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98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980" spc="-1" strike="noStrike">
                <a:solidFill>
                  <a:srgbClr val="222222"/>
                </a:solidFill>
                <a:latin typeface="DM Sans"/>
              </a:rPr>
              <a:t>Live-app locator verification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US" sz="98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980" spc="-1" strike="noStrike">
                <a:solidFill>
                  <a:srgbClr val="222222"/>
                </a:solidFill>
                <a:latin typeface="DM Sans"/>
              </a:rPr>
              <a:t>Secure credential handling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Right Arrow 1022"/>
          <p:cNvSpPr/>
          <p:nvPr/>
        </p:nvSpPr>
        <p:spPr>
          <a:xfrm>
            <a:off x="8941680" y="2925000"/>
            <a:ext cx="269640" cy="259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8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48" name="Rounded Rectangle 1023"/>
          <p:cNvSpPr/>
          <p:nvPr/>
        </p:nvSpPr>
        <p:spPr>
          <a:xfrm>
            <a:off x="9251640" y="1980000"/>
            <a:ext cx="2330280" cy="214956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49" name="Rounded Rectangle 1024"/>
          <p:cNvSpPr/>
          <p:nvPr/>
        </p:nvSpPr>
        <p:spPr>
          <a:xfrm>
            <a:off x="9411840" y="2170080"/>
            <a:ext cx="2010240" cy="359640"/>
          </a:xfrm>
          <a:prstGeom prst="roundRect">
            <a:avLst>
              <a:gd name="adj" fmla="val 50000"/>
            </a:avLst>
          </a:prstGeom>
          <a:solidFill>
            <a:srgbClr val="000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69840" rIns="6984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DAY 61–90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TextBox 1025"/>
          <p:cNvSpPr/>
          <p:nvPr/>
        </p:nvSpPr>
        <p:spPr>
          <a:xfrm>
            <a:off x="9421920" y="2639880"/>
            <a:ext cx="1990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0000b3"/>
                </a:solidFill>
                <a:latin typeface="Arial"/>
              </a:rPr>
              <a:t>Scale to Production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TextBox 1026"/>
          <p:cNvSpPr/>
          <p:nvPr/>
        </p:nvSpPr>
        <p:spPr>
          <a:xfrm>
            <a:off x="9421920" y="3120120"/>
            <a:ext cx="199044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98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980" spc="-1" strike="noStrike">
                <a:solidFill>
                  <a:srgbClr val="222222"/>
                </a:solidFill>
                <a:latin typeface="DM Sans"/>
              </a:rPr>
              <a:t>Ship the web dashboard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US" sz="98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980" spc="-1" strike="noStrike">
                <a:solidFill>
                  <a:srgbClr val="222222"/>
                </a:solidFill>
                <a:latin typeface="DM Sans"/>
              </a:rPr>
              <a:t>Onboard first production team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TextBox 1027"/>
          <p:cNvSpPr/>
          <p:nvPr/>
        </p:nvSpPr>
        <p:spPr>
          <a:xfrm>
            <a:off x="609480" y="4830120"/>
            <a:ext cx="109728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150" spc="-1" strike="noStrike">
                <a:solidFill>
                  <a:srgbClr val="666666"/>
                </a:solidFill>
                <a:latin typeface="DM Sans"/>
              </a:rPr>
              <a:t>Everything from Day 1 onward is ready to move the moment that one gate opens.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TextBox 1"/>
          <p:cNvSpPr/>
          <p:nvPr/>
        </p:nvSpPr>
        <p:spPr>
          <a:xfrm>
            <a:off x="233280" y="519840"/>
            <a:ext cx="109728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50" spc="137" strike="noStrike">
                <a:solidFill>
                  <a:srgbClr val="e08200"/>
                </a:solidFill>
                <a:latin typeface="Arial"/>
              </a:rPr>
              <a:t>WHAT'S NEXT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PlaceHolder 1"/>
          <p:cNvSpPr>
            <a:spLocks noGrp="1"/>
          </p:cNvSpPr>
          <p:nvPr>
            <p:ph type="title"/>
          </p:nvPr>
        </p:nvSpPr>
        <p:spPr>
          <a:xfrm>
            <a:off x="233280" y="780120"/>
            <a:ext cx="11957760" cy="4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2500" spc="-1" strike="noStrike">
                <a:solidFill>
                  <a:srgbClr val="0000b3"/>
                </a:solidFill>
                <a:latin typeface="Arial"/>
              </a:rPr>
              <a:t>Current Blocker &amp; Next Steps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Rounded Rectangle 1006"/>
          <p:cNvSpPr/>
          <p:nvPr/>
        </p:nvSpPr>
        <p:spPr>
          <a:xfrm>
            <a:off x="233280" y="1325160"/>
            <a:ext cx="619560" cy="33480"/>
          </a:xfrm>
          <a:prstGeom prst="roundRect">
            <a:avLst>
              <a:gd name="adj" fmla="val 50000"/>
            </a:avLst>
          </a:prstGeom>
          <a:solidFill>
            <a:srgbClr val="6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0880" bIns="-2088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56" name="TextBox 1007"/>
          <p:cNvSpPr/>
          <p:nvPr/>
        </p:nvSpPr>
        <p:spPr>
          <a:xfrm>
            <a:off x="609480" y="1419840"/>
            <a:ext cx="109728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666666"/>
                </a:solidFill>
                <a:latin typeface="DM Sans"/>
              </a:rPr>
              <a:t>What's stopping a live demo today, and the concrete path to unblock it.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Rounded Rectangle 1008"/>
          <p:cNvSpPr/>
          <p:nvPr/>
        </p:nvSpPr>
        <p:spPr>
          <a:xfrm>
            <a:off x="609480" y="1900080"/>
            <a:ext cx="5311080" cy="359964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 w="9525">
            <a:solidFill>
              <a:srgbClr val="ffa500"/>
            </a:solidFill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58" name="Oval 1009"/>
          <p:cNvSpPr/>
          <p:nvPr/>
        </p:nvSpPr>
        <p:spPr>
          <a:xfrm>
            <a:off x="809640" y="2049840"/>
            <a:ext cx="559800" cy="55980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!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TextBox 1010"/>
          <p:cNvSpPr/>
          <p:nvPr/>
        </p:nvSpPr>
        <p:spPr>
          <a:xfrm>
            <a:off x="1459440" y="2225160"/>
            <a:ext cx="42112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b56300"/>
                </a:solidFill>
                <a:latin typeface="Arial"/>
              </a:rPr>
              <a:t>Current Blocker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TextBox 1011"/>
          <p:cNvSpPr/>
          <p:nvPr/>
        </p:nvSpPr>
        <p:spPr>
          <a:xfrm>
            <a:off x="909360" y="2750040"/>
            <a:ext cx="4711320" cy="14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15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1150" spc="-1" strike="noStrike">
                <a:solidFill>
                  <a:srgbClr val="222222"/>
                </a:solidFill>
                <a:latin typeface="DM Sans"/>
              </a:rPr>
              <a:t>The AI capability we use today comes from Anthropic (the company behind Claude) and needs an approved API key to run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b="0" lang="en-US" sz="115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1150" spc="-1" strike="noStrike">
                <a:solidFill>
                  <a:srgbClr val="222222"/>
                </a:solidFill>
                <a:latin typeface="DM Sans"/>
              </a:rPr>
              <a:t>That key isn't approved for use on the org network yet — so even this working platform can't be demoed live to stakeholders today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b="0" lang="en-US" sz="115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1150" spc="-1" strike="noStrike">
                <a:solidFill>
                  <a:srgbClr val="222222"/>
                </a:solidFill>
                <a:latin typeface="DM Sans"/>
              </a:rPr>
              <a:t>We're evaluating Chromosome AI, the org's own in-house AI platform, as a direct swap for that one piece — access request is in progress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Rounded Rectangle 1012"/>
          <p:cNvSpPr/>
          <p:nvPr/>
        </p:nvSpPr>
        <p:spPr>
          <a:xfrm>
            <a:off x="6271200" y="1900080"/>
            <a:ext cx="5311080" cy="359964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62" name="TextBox 1013"/>
          <p:cNvSpPr/>
          <p:nvPr/>
        </p:nvSpPr>
        <p:spPr>
          <a:xfrm>
            <a:off x="6571080" y="2225160"/>
            <a:ext cx="47113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b3"/>
                </a:solidFill>
                <a:latin typeface="Arial"/>
              </a:rPr>
              <a:t>Next Steps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63" name="Connector 1014"/>
          <p:cNvCxnSpPr/>
          <p:nvPr/>
        </p:nvCxnSpPr>
        <p:spPr>
          <a:xfrm>
            <a:off x="6890760" y="2999880"/>
            <a:ext cx="360" cy="1720440"/>
          </a:xfrm>
          <a:prstGeom prst="straightConnector1">
            <a:avLst/>
          </a:prstGeom>
          <a:ln w="25400">
            <a:solidFill>
              <a:srgbClr val="d8dcee"/>
            </a:solidFill>
          </a:ln>
        </p:spPr>
      </p:cxnSp>
      <p:sp>
        <p:nvSpPr>
          <p:cNvPr id="664" name="Oval 1015"/>
          <p:cNvSpPr/>
          <p:nvPr/>
        </p:nvSpPr>
        <p:spPr>
          <a:xfrm>
            <a:off x="6651000" y="2760120"/>
            <a:ext cx="479520" cy="479520"/>
          </a:xfrm>
          <a:prstGeom prst="ellipse">
            <a:avLst/>
          </a:prstGeom>
          <a:solidFill>
            <a:srgbClr val="000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</a:rPr>
              <a:t>1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5" name="TextBox 1016"/>
          <p:cNvSpPr/>
          <p:nvPr/>
        </p:nvSpPr>
        <p:spPr>
          <a:xfrm>
            <a:off x="7291080" y="2800080"/>
            <a:ext cx="399132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0000b3"/>
                </a:solidFill>
                <a:latin typeface="Arial"/>
              </a:rPr>
              <a:t>Get Chromosome AI access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b="0" lang="en-US" sz="1050" spc="-1" strike="noStrike">
                <a:solidFill>
                  <a:srgbClr val="222222"/>
                </a:solidFill>
                <a:latin typeface="DM Sans"/>
              </a:rPr>
              <a:t>Confirm it can do the same job — read and write files, run commands, and fix its own mistakes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Oval 1017"/>
          <p:cNvSpPr/>
          <p:nvPr/>
        </p:nvSpPr>
        <p:spPr>
          <a:xfrm>
            <a:off x="6651000" y="3620160"/>
            <a:ext cx="479520" cy="479520"/>
          </a:xfrm>
          <a:prstGeom prst="ellipse">
            <a:avLst/>
          </a:prstGeom>
          <a:solidFill>
            <a:srgbClr val="000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</a:rPr>
              <a:t>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7" name="TextBox 1018"/>
          <p:cNvSpPr/>
          <p:nvPr/>
        </p:nvSpPr>
        <p:spPr>
          <a:xfrm>
            <a:off x="7291080" y="3660120"/>
            <a:ext cx="399132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0000b3"/>
                </a:solidFill>
                <a:latin typeface="Arial"/>
              </a:rPr>
              <a:t>Swap the AI engine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b="0" lang="en-US" sz="1050" spc="-1" strike="noStrike">
                <a:solidFill>
                  <a:srgbClr val="222222"/>
                </a:solidFill>
                <a:latin typeface="DM Sans"/>
              </a:rPr>
              <a:t>Replace just that one piece — everything else about the platform stays exactly the same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Oval 1019"/>
          <p:cNvSpPr/>
          <p:nvPr/>
        </p:nvSpPr>
        <p:spPr>
          <a:xfrm>
            <a:off x="6651000" y="4479840"/>
            <a:ext cx="479520" cy="479520"/>
          </a:xfrm>
          <a:prstGeom prst="ellipse">
            <a:avLst/>
          </a:prstGeom>
          <a:solidFill>
            <a:srgbClr val="000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</a:rPr>
              <a:t>3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9" name="TextBox 1020"/>
          <p:cNvSpPr/>
          <p:nvPr/>
        </p:nvSpPr>
        <p:spPr>
          <a:xfrm>
            <a:off x="7291080" y="4520160"/>
            <a:ext cx="399132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0000b3"/>
                </a:solidFill>
                <a:latin typeface="Arial"/>
              </a:rPr>
              <a:t>Demo, then keep building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b="0" lang="en-US" sz="1050" spc="-1" strike="noStrike">
                <a:solidFill>
                  <a:srgbClr val="222222"/>
                </a:solidFill>
                <a:latin typeface="DM Sans"/>
              </a:rPr>
              <a:t>Run a live demo for stakeholders, then add a proper web dashboard so anyone on the team can submit requests and track progress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BFBE307A9FB147A13B995E92F26744" ma:contentTypeVersion="11" ma:contentTypeDescription="Create a new document." ma:contentTypeScope="" ma:versionID="5ad6d162a92ed5c1a71064a91088576c">
  <xsd:schema xmlns:xsd="http://www.w3.org/2001/XMLSchema" xmlns:xs="http://www.w3.org/2001/XMLSchema" xmlns:p="http://schemas.microsoft.com/office/2006/metadata/properties" xmlns:ns3="cc18b26c-bbac-43d3-83e9-970a571d42ca" targetNamespace="http://schemas.microsoft.com/office/2006/metadata/properties" ma:root="true" ma:fieldsID="608b2d3e19c73849ce631f3bc6de4937" ns3:_="">
    <xsd:import namespace="cc18b26c-bbac-43d3-83e9-970a571d42c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18b26c-bbac-43d3-83e9-970a571d42c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c18b26c-bbac-43d3-83e9-970a571d42ca" xsi:nil="true"/>
  </documentManagement>
</p:properties>
</file>

<file path=customXml/itemProps1.xml><?xml version="1.0" encoding="utf-8"?>
<ds:datastoreItem xmlns:ds="http://schemas.openxmlformats.org/officeDocument/2006/customXml" ds:itemID="{F36415E4-9000-456E-9B51-7C979AEF523C}">
  <ds:schemaRefs>
    <ds:schemaRef ds:uri="cc18b26c-bbac-43d3-83e9-970a571d42c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9B12F0C-6342-4EBC-AD4A-9AF729C526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3CA696-2BAE-4A12-9207-3569762EAEA9}">
  <ds:schemaRefs>
    <ds:schemaRef ds:uri="cc18b26c-bbac-43d3-83e9-970a571d42c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LibreOffice/24.2.0.3$Windows_X86_64 LibreOffice_project/da48488a73ddd66ea24cf16bbc4f7b9c08e9bea1</Application>
  <AppVersion>15.0000</AppVersion>
  <Company>Jaguar Land Rover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2026-06-05T10:02:29Z</dcterms:created>
  <dc:creator>Venkatesh, B.S </dc:creator>
  <dc:description/>
  <dc:language>en-US</dc:language>
  <cp:lastModifiedBy/>
  <dcterms:modified xsi:type="dcterms:W3CDTF">2026-08-23T21:07:07Z</dcterms:modified>
  <cp:revision>224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0x01010070BFBE307A9FB147A13B995E92F26744</vt:lpwstr>
  </property>
  <property fmtid="{D5CDD505-2E9C-101B-9397-08002B2CF9AE}" pid="3" name="MSIP_Label_289eaf13-f528-470e-bf6b-38b666617431_ActionId">
    <vt:lpwstr>c98e7eb1-4dcc-4e48-b441-e37401ffee54</vt:lpwstr>
  </property>
  <property fmtid="{D5CDD505-2E9C-101B-9397-08002B2CF9AE}" pid="4" name="MSIP_Label_289eaf13-f528-470e-bf6b-38b666617431_ContentBits">
    <vt:lpwstr>0</vt:lpwstr>
  </property>
  <property fmtid="{D5CDD505-2E9C-101B-9397-08002B2CF9AE}" pid="5" name="MSIP_Label_289eaf13-f528-470e-bf6b-38b666617431_Enabled">
    <vt:lpwstr>true</vt:lpwstr>
  </property>
  <property fmtid="{D5CDD505-2E9C-101B-9397-08002B2CF9AE}" pid="6" name="MSIP_Label_289eaf13-f528-470e-bf6b-38b666617431_Method">
    <vt:lpwstr>Standard</vt:lpwstr>
  </property>
  <property fmtid="{D5CDD505-2E9C-101B-9397-08002B2CF9AE}" pid="7" name="MSIP_Label_289eaf13-f528-470e-bf6b-38b666617431_Name">
    <vt:lpwstr>Proprietary</vt:lpwstr>
  </property>
  <property fmtid="{D5CDD505-2E9C-101B-9397-08002B2CF9AE}" pid="8" name="MSIP_Label_289eaf13-f528-470e-bf6b-38b666617431_SetDate">
    <vt:lpwstr>2026-06-05T10:02:29Z</vt:lpwstr>
  </property>
  <property fmtid="{D5CDD505-2E9C-101B-9397-08002B2CF9AE}" pid="9" name="MSIP_Label_289eaf13-f528-470e-bf6b-38b666617431_SiteId">
    <vt:lpwstr>4c087f80-1e07-4f72-9e41-d7d9748d0f4c</vt:lpwstr>
  </property>
  <property fmtid="{D5CDD505-2E9C-101B-9397-08002B2CF9AE}" pid="10" name="MSIP_Label_289eaf13-f528-470e-bf6b-38b666617431_Tag">
    <vt:lpwstr>10, 3, 0, 1</vt:lpwstr>
  </property>
  <property fmtid="{D5CDD505-2E9C-101B-9397-08002B2CF9AE}" pid="11" name="PresentationFormat">
    <vt:lpwstr>Widescreen</vt:lpwstr>
  </property>
  <property fmtid="{D5CDD505-2E9C-101B-9397-08002B2CF9AE}" pid="12" name="Slides">
    <vt:i4>5</vt:i4>
  </property>
</Properties>
</file>