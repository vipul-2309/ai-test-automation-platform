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media/image12.wmf" ContentType="image/x-wmf"/>
  <Override PartName="/ppt/media/image1.png" ContentType="image/png"/>
  <Override PartName="/ppt/media/image13.wmf" ContentType="image/x-wmf"/>
  <Override PartName="/ppt/media/image2.png" ContentType="image/png"/>
  <Override PartName="/ppt/media/image14.wmf" ContentType="image/x-wmf"/>
  <Override PartName="/ppt/media/image3.png" ContentType="image/png"/>
  <Override PartName="/ppt/media/image15.wmf" ContentType="image/x-wmf"/>
  <Override PartName="/ppt/media/image4.png" ContentType="image/png"/>
  <Override PartName="/ppt/media/image8.png" ContentType="image/png"/>
  <Override PartName="/ppt/media/image5.svg" ContentType="image/svg"/>
  <Override PartName="/ppt/media/image6.png" ContentType="image/png"/>
  <Override PartName="/ppt/media/image7.png" ContentType="image/png"/>
  <Override PartName="/ppt/media/image9.svg" ContentType="image/svg"/>
  <Override PartName="/ppt/media/image10.png" ContentType="image/png"/>
  <Override PartName="/ppt/media/image11.wmf" ContentType="image/x-wmf"/>
  <Override PartName="/ppt/media/image16.wmf" ContentType="image/x-wmf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svg" ContentType="image/svg"/>
  <Override PartName="/ppt/media/image33.png" ContentType="image/png"/>
  <Override PartName="/ppt/media/image26.png" ContentType="image/png"/>
  <Override PartName="/ppt/media/image27.svg" ContentType="image/svg"/>
  <Override PartName="/ppt/media/image35.png" ContentType="image/png"/>
  <Override PartName="/ppt/media/image37.jpeg" ContentType="image/jpeg"/>
  <Override PartName="/ppt/media/image28.png" ContentType="image/png"/>
  <Override PartName="/ppt/media/image29.svg" ContentType="image/svg"/>
  <Override PartName="/ppt/media/image30.png" ContentType="image/png"/>
  <Override PartName="/ppt/media/image31.svg" ContentType="image/svg"/>
  <Override PartName="/ppt/media/image32.png" ContentType="image/png"/>
  <Override PartName="/ppt/media/image34.svg" ContentType="image/svg"/>
  <Override PartName="/ppt/media/image36.svg" ContentType="image/svg"/>
  <Override PartName="/ppt/media/image38.png" ContentType="image/png"/>
  <Override PartName="/ppt/media/image39.svg" ContentType="image/sv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300" spc="-1" strike="noStrike">
                <a:solidFill>
                  <a:srgbClr val="222222"/>
                </a:solidFill>
                <a:latin typeface="Arial"/>
              </a:defRPr>
            </a:pPr>
            <a:r>
              <a:rPr b="1" sz="1300" spc="-1" strike="noStrike">
                <a:solidFill>
                  <a:srgbClr val="222222"/>
                </a:solidFill>
                <a:latin typeface="Arial"/>
              </a:rPr>
              <a:t>Manual effort scales with every test case added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Manual effort (engineer-days)</c:v>
                </c:pt>
              </c:strCache>
            </c:strRef>
          </c:tx>
          <c:spPr>
            <a:solidFill>
              <a:srgbClr val="0000b3"/>
            </a:solidFill>
            <a:ln w="0">
              <a:noFill/>
            </a:ln>
          </c:spPr>
          <c:invertIfNegative val="0"/>
          <c:dLbls>
            <c:numFmt formatCode="0&quot; days&quot;" sourceLinked="0"/>
            <c:txPr>
              <a:bodyPr wrap="square"/>
              <a:lstStyle/>
              <a:p>
                <a:pPr>
                  <a:defRPr b="1" sz="1150" spc="-1" strike="noStrike">
                    <a:solidFill>
                      <a:srgbClr val="0000b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10 test cases</c:v>
                </c:pt>
                <c:pt idx="1">
                  <c:v>25 test cases</c:v>
                </c:pt>
                <c:pt idx="2">
                  <c:v>50 test cases</c:v>
                </c:pt>
                <c:pt idx="3">
                  <c:v>100 test cases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</c:v>
                </c:pt>
                <c:pt idx="1">
                  <c:v>12.5</c:v>
                </c:pt>
                <c:pt idx="2">
                  <c:v>25</c:v>
                </c:pt>
                <c:pt idx="3">
                  <c:v>50</c:v>
                </c:pt>
              </c:numCache>
            </c:numRef>
          </c:val>
        </c:ser>
        <c:gapWidth val="60"/>
        <c:overlap val="0"/>
        <c:axId val="25728072"/>
        <c:axId val="38649297"/>
      </c:barChart>
      <c:catAx>
        <c:axId val="25728072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d8dcee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000000"/>
                </a:solidFill>
                <a:latin typeface="DM Sans"/>
              </a:defRPr>
            </a:pPr>
          </a:p>
        </c:txPr>
        <c:crossAx val="38649297"/>
        <c:crosses val="autoZero"/>
        <c:auto val="1"/>
        <c:lblAlgn val="ctr"/>
        <c:lblOffset val="100"/>
        <c:noMultiLvlLbl val="0"/>
      </c:catAx>
      <c:valAx>
        <c:axId val="38649297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DM Sans"/>
              </a:defRPr>
            </a:pPr>
          </a:p>
        </c:txPr>
        <c:crossAx val="25728072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203947-5C57-45D4-A974-4EE208230D5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4D3235-E5D6-4DDB-B961-4F325811C08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FC7B1C-AA98-4199-BA59-CDCA225A02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E8D3C-66B9-409D-A42F-51C256A807F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F816ADB-F3EF-4370-ABEC-5A1E6B57394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90C376-20FF-4975-8209-CFB90C2D9521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024547F-0767-4176-A40A-50C58E16C20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29908C9-027F-4FCB-A258-262ADB13F77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187F20-9355-444C-9D8F-C012024BFB7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94E13A3-2341-4C41-BC8E-117514DD7003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902E6EE-29BE-4281-B600-0B78E2032392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c - 2 columns without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7C7D12A-8CA2-4202-AED0-765F9AF010A4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ver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2147931-9F28-46E4-82F7-B7AA6D9FEF1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wmf"/><Relationship Id="rId8" Type="http://schemas.openxmlformats.org/officeDocument/2006/relationships/image" Target="../media/image12.wmf"/><Relationship Id="rId9" Type="http://schemas.openxmlformats.org/officeDocument/2006/relationships/image" Target="../media/image13.wmf"/><Relationship Id="rId10" Type="http://schemas.openxmlformats.org/officeDocument/2006/relationships/image" Target="../media/image14.wmf"/><Relationship Id="rId11" Type="http://schemas.openxmlformats.org/officeDocument/2006/relationships/image" Target="../media/image15.wmf"/><Relationship Id="rId12" Type="http://schemas.openxmlformats.org/officeDocument/2006/relationships/image" Target="../media/image16.wmf"/><Relationship Id="rId1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image" Target="../media/image24.png"/><Relationship Id="rId10" Type="http://schemas.openxmlformats.org/officeDocument/2006/relationships/image" Target="../media/image25.svg"/><Relationship Id="rId11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svg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hyperlink" Target="http://tatatechnologies.com/" TargetMode="External"/><Relationship Id="rId16" Type="http://schemas.openxmlformats.org/officeDocument/2006/relationships/hyperlink" Target="https://www.linkedin.com/company/tata-technologies" TargetMode="External"/><Relationship Id="rId17" Type="http://schemas.openxmlformats.org/officeDocument/2006/relationships/hyperlink" Target="https://www.instagram.com/tatatechnologies/" TargetMode="External"/><Relationship Id="rId18" Type="http://schemas.openxmlformats.org/officeDocument/2006/relationships/hyperlink" Target="https://twitter.com/tatatech_news?s=11&amp;t=fgv6pWVIZCV4O0Z1gAQ2kQ" TargetMode="External"/><Relationship Id="rId19" Type="http://schemas.openxmlformats.org/officeDocument/2006/relationships/hyperlink" Target="https://www.youtube.com/user/tatatechnologies" TargetMode="External"/><Relationship Id="rId20" Type="http://schemas.openxmlformats.org/officeDocument/2006/relationships/hyperlink" Target="https://www.facebook.com/TataTechnologies/" TargetMode="External"/><Relationship Id="rId21" Type="http://schemas.openxmlformats.org/officeDocument/2006/relationships/image" Target="../media/image3.png"/><Relationship Id="rId22" Type="http://schemas.openxmlformats.org/officeDocument/2006/relationships/image" Target="../media/image4.png"/><Relationship Id="rId23" Type="http://schemas.openxmlformats.org/officeDocument/2006/relationships/image" Target="../media/image5.svg"/><Relationship Id="rId24" Type="http://schemas.openxmlformats.org/officeDocument/2006/relationships/image" Target="../media/image35.png"/><Relationship Id="rId25" Type="http://schemas.openxmlformats.org/officeDocument/2006/relationships/image" Target="../media/image36.svg"/><Relationship Id="rId26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7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" name="TextBox 3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14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5" name="hcSlideMaster87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hcSlideMaster78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hcSlideMaster253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hcSlideMaster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1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72AFA3-B161-4C66-A0A3-2BDA866DAFD1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6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9" name="hcSlideMaster87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hcSlideMaster169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hcSlideMaster68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hcSlideMaster253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hcSlideMaster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2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E985EA-723C-44FA-B99F-9423868C6031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7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9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0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1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2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3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2022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5" name="hcSlideMaster130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hcSlideMaster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8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9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0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1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2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3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4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5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6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7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8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9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61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2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3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4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5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6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7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8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69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70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71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72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hcSlideMaster169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hcSlideMaster6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hcSlideMaster253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hcSlideMaster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cSlideMaster.Large audienc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7760" cy="44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4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9243E7-71EC-46BB-9BE1-AB530E7BD312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g object 54"/>
          <p:cNvSpPr/>
          <p:nvPr/>
        </p:nvSpPr>
        <p:spPr>
          <a:xfrm>
            <a:off x="0" y="520200"/>
            <a:ext cx="58680" cy="46440"/>
          </a:xfrm>
          <a:custGeom>
            <a:avLst/>
            <a:gdLst>
              <a:gd name="textAreaLeft" fmla="*/ 0 w 58680"/>
              <a:gd name="textAreaRight" fmla="*/ 59400 w 58680"/>
              <a:gd name="textAreaTop" fmla="*/ 0 h 46440"/>
              <a:gd name="textAreaBottom" fmla="*/ 47160 h 46440"/>
            </a:gdLst>
            <a:ahLst/>
            <a:rect l="textAreaLeft" t="textAreaTop" r="textAreaRight" b="textAreaBottom"/>
            <a:pathLst>
              <a:path w="52069" h="52070">
                <a:moveTo>
                  <a:pt x="51803" y="0"/>
                </a:moveTo>
                <a:lnTo>
                  <a:pt x="0" y="0"/>
                </a:lnTo>
                <a:lnTo>
                  <a:pt x="0" y="51803"/>
                </a:lnTo>
                <a:lnTo>
                  <a:pt x="51803" y="51803"/>
                </a:lnTo>
                <a:lnTo>
                  <a:pt x="51803" y="0"/>
                </a:lnTo>
                <a:close/>
              </a:path>
            </a:pathLst>
          </a:custGeom>
          <a:solidFill>
            <a:srgbClr val="babcbe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629" spc="-1" strike="noStrike">
              <a:solidFill>
                <a:schemeClr val="dk1"/>
              </a:solidFill>
              <a:latin typeface="DM Sans"/>
            </a:endParaRPr>
          </a:p>
        </p:txBody>
      </p:sp>
      <p:sp>
        <p:nvSpPr>
          <p:cNvPr id="88" name="hcSlideMaster.Title and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90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91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92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93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4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95" name="TextBox 2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98" name="hcSlideMaster.Title only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6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338D87-91B9-49F3-88B8-150E7EB999B0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10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07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09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hcSlideMaster.7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12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13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14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1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17" name="TextBox 1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20" name="Title 1"/>
          <p:cNvSpPr/>
          <p:nvPr/>
        </p:nvSpPr>
        <p:spPr>
          <a:xfrm>
            <a:off x="905040" y="849240"/>
            <a:ext cx="117266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Placeholder 6"/>
          <p:cNvSpPr/>
          <p:nvPr/>
        </p:nvSpPr>
        <p:spPr>
          <a:xfrm>
            <a:off x="245520" y="178380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Placeholder 6"/>
          <p:cNvSpPr/>
          <p:nvPr/>
        </p:nvSpPr>
        <p:spPr>
          <a:xfrm>
            <a:off x="3613680" y="96444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Placeholder 6"/>
          <p:cNvSpPr/>
          <p:nvPr/>
        </p:nvSpPr>
        <p:spPr>
          <a:xfrm>
            <a:off x="1010880" y="2322000"/>
            <a:ext cx="2794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1010880" y="3364200"/>
            <a:ext cx="2098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0"/>
          <p:cNvSpPr/>
          <p:nvPr/>
        </p:nvSpPr>
        <p:spPr>
          <a:xfrm>
            <a:off x="1010880" y="4847760"/>
            <a:ext cx="19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0960" cy="5968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160" cy="47376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200" cy="5281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5840" cy="575640"/>
          </a:xfrm>
          <a:prstGeom prst="rect">
            <a:avLst/>
          </a:prstGeom>
          <a:ln w="0">
            <a:noFill/>
          </a:ln>
        </p:spPr>
      </p:pic>
      <p:sp>
        <p:nvSpPr>
          <p:cNvPr id="130" name="TextBox 25"/>
          <p:cNvSpPr/>
          <p:nvPr/>
        </p:nvSpPr>
        <p:spPr>
          <a:xfrm>
            <a:off x="3613320" y="2042280"/>
            <a:ext cx="35596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6"/>
          <p:cNvSpPr/>
          <p:nvPr/>
        </p:nvSpPr>
        <p:spPr>
          <a:xfrm>
            <a:off x="3613680" y="3982320"/>
            <a:ext cx="26589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120" cy="51264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6760" cy="578880"/>
          </a:xfrm>
          <a:prstGeom prst="rect">
            <a:avLst/>
          </a:prstGeom>
          <a:ln w="0">
            <a:noFill/>
          </a:ln>
        </p:spPr>
      </p:pic>
      <p:cxnSp>
        <p:nvCxnSpPr>
          <p:cNvPr id="134" name="Straight Connector 29"/>
          <p:cNvCxnSpPr/>
          <p:nvPr/>
        </p:nvCxnSpPr>
        <p:spPr>
          <a:xfrm>
            <a:off x="3211560" y="1579680"/>
            <a:ext cx="720" cy="40798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35" name="hcSlideMaster125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hcSlideMaster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5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38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39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40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41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42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43" name="TextBox 24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46" name="hcSlideMaster87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hcSlideMaster125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hcSlideMaster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Num" idx="7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BAECB9-B8A6-4AC6-BBE6-937B80C62CC3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7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15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5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5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15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5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5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5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5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15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6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6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62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3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164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5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6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7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8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69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0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1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172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173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174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175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hcSlideMaster7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hcSlideMaster253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9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82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83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84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85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6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87" name="TextBox 2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90" name="hcSlideMaster.Title only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sldNum" idx="8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2F1547-0DB9-43A3-8FD9-2A3732C02414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193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194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195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196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7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198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199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201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hcSlideMaster.7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6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04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05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06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07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08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09" name="TextBox 1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1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12" name="Title 1"/>
          <p:cNvSpPr/>
          <p:nvPr/>
        </p:nvSpPr>
        <p:spPr>
          <a:xfrm>
            <a:off x="905040" y="849240"/>
            <a:ext cx="117266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GB" sz="2800" spc="-1" strike="noStrike">
                <a:solidFill>
                  <a:srgbClr val="0000b3"/>
                </a:solidFill>
                <a:latin typeface="DM Sans"/>
              </a:rPr>
              <a:t>Safety Pause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Placeholder 6"/>
          <p:cNvSpPr/>
          <p:nvPr/>
        </p:nvSpPr>
        <p:spPr>
          <a:xfrm>
            <a:off x="245520" y="178380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AT HOME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Placeholder 6"/>
          <p:cNvSpPr/>
          <p:nvPr/>
        </p:nvSpPr>
        <p:spPr>
          <a:xfrm>
            <a:off x="3613680" y="964440"/>
            <a:ext cx="3559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10c6b3"/>
                </a:solidFill>
                <a:latin typeface="DM Sans"/>
              </a:rPr>
              <a:t>SAFETY MEASURES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Placeholder 6"/>
          <p:cNvSpPr/>
          <p:nvPr/>
        </p:nvSpPr>
        <p:spPr>
          <a:xfrm>
            <a:off x="1010880" y="2322000"/>
            <a:ext cx="2794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252000"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DM Sans"/>
              </a:rPr>
              <a:t>COVID-19 Precaution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9"/>
          <p:cNvSpPr/>
          <p:nvPr/>
        </p:nvSpPr>
        <p:spPr>
          <a:xfrm>
            <a:off x="1010880" y="3364200"/>
            <a:ext cx="2098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Also, please be aware of emergency exits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1010880" y="4847760"/>
            <a:ext cx="19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Take care of your posture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Picture 21" descr=""/>
          <p:cNvPicPr/>
          <p:nvPr/>
        </p:nvPicPr>
        <p:blipFill>
          <a:blip r:embed="rId7"/>
          <a:stretch/>
        </p:blipFill>
        <p:spPr>
          <a:xfrm>
            <a:off x="333360" y="798480"/>
            <a:ext cx="570960" cy="59688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22" descr=""/>
          <p:cNvPicPr/>
          <p:nvPr/>
        </p:nvPicPr>
        <p:blipFill>
          <a:blip r:embed="rId8"/>
          <a:stretch/>
        </p:blipFill>
        <p:spPr>
          <a:xfrm>
            <a:off x="333360" y="2242800"/>
            <a:ext cx="632160" cy="47376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23" descr=""/>
          <p:cNvPicPr/>
          <p:nvPr/>
        </p:nvPicPr>
        <p:blipFill>
          <a:blip r:embed="rId9"/>
          <a:stretch/>
        </p:blipFill>
        <p:spPr>
          <a:xfrm>
            <a:off x="333360" y="3442320"/>
            <a:ext cx="556200" cy="52812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24" descr=""/>
          <p:cNvPicPr/>
          <p:nvPr/>
        </p:nvPicPr>
        <p:blipFill>
          <a:blip r:embed="rId10"/>
          <a:stretch/>
        </p:blipFill>
        <p:spPr>
          <a:xfrm>
            <a:off x="333360" y="4772880"/>
            <a:ext cx="465840" cy="575640"/>
          </a:xfrm>
          <a:prstGeom prst="rect">
            <a:avLst/>
          </a:prstGeom>
          <a:ln w="0">
            <a:noFill/>
          </a:ln>
        </p:spPr>
      </p:pic>
      <p:sp>
        <p:nvSpPr>
          <p:cNvPr id="222" name="TextBox 25"/>
          <p:cNvSpPr/>
          <p:nvPr/>
        </p:nvSpPr>
        <p:spPr>
          <a:xfrm>
            <a:off x="3613320" y="2042280"/>
            <a:ext cx="35596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In case you are using a headset, please ensure the volume is such that you can hear fire alarms.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Look out for any Fire Alarm. Please be aware of emergency exits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6"/>
          <p:cNvSpPr/>
          <p:nvPr/>
        </p:nvSpPr>
        <p:spPr>
          <a:xfrm>
            <a:off x="3613680" y="3982320"/>
            <a:ext cx="26589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DM Sans"/>
              </a:rPr>
              <a:t>Keep your family members / fellow colleagues informed about where you are working so that they can alert you in case of any emergency. Please be aware of emergency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7" descr=""/>
          <p:cNvPicPr/>
          <p:nvPr/>
        </p:nvPicPr>
        <p:blipFill>
          <a:blip r:embed="rId11"/>
          <a:stretch/>
        </p:blipFill>
        <p:spPr>
          <a:xfrm>
            <a:off x="3703680" y="3419280"/>
            <a:ext cx="762120" cy="51264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28" descr=""/>
          <p:cNvPicPr/>
          <p:nvPr/>
        </p:nvPicPr>
        <p:blipFill>
          <a:blip r:embed="rId12"/>
          <a:stretch/>
        </p:blipFill>
        <p:spPr>
          <a:xfrm>
            <a:off x="3703680" y="1422000"/>
            <a:ext cx="536760" cy="578880"/>
          </a:xfrm>
          <a:prstGeom prst="rect">
            <a:avLst/>
          </a:prstGeom>
          <a:ln w="0">
            <a:noFill/>
          </a:ln>
        </p:spPr>
      </p:pic>
      <p:cxnSp>
        <p:nvCxnSpPr>
          <p:cNvPr id="226" name="Straight Connector 29"/>
          <p:cNvCxnSpPr/>
          <p:nvPr/>
        </p:nvCxnSpPr>
        <p:spPr>
          <a:xfrm>
            <a:off x="3211560" y="1579680"/>
            <a:ext cx="720" cy="40798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227" name="hcSlideMaster125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hcSlideMaster.Safety Paus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30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31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32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33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34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35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37" name="TextBox 1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hcSlideMaster87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hcSlideMaster242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hcSlideMaster125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hcSlideMaster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sldNum" idx="9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856AF8-8E48-4A96-AD59-08DF08CA5A38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7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roup 15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44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45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46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47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8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9" name="TextBox 24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52" name="hcSlideMaster87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hcSlideMaster125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hcSlideMaster.Content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10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6B0926-FB1E-4531-B612-48E179F507BB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7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hcSlideMaster266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hcSlideMaster242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hcSlideMaster125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hcSlideMaster.10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0"/>
          <p:cNvSpPr/>
          <p:nvPr/>
        </p:nvSpPr>
        <p:spPr>
          <a:xfrm>
            <a:off x="7251480" y="1105560"/>
            <a:ext cx="4937040" cy="4564800"/>
          </a:xfrm>
          <a:prstGeom prst="rect">
            <a:avLst/>
          </a:prstGeom>
          <a:solidFill>
            <a:srgbClr val="2c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7200" spc="-1" strike="noStrike">
              <a:solidFill>
                <a:schemeClr val="lt1"/>
              </a:solidFill>
              <a:latin typeface="DM Sans"/>
            </a:endParaRPr>
          </a:p>
        </p:txBody>
      </p:sp>
      <p:pic>
        <p:nvPicPr>
          <p:cNvPr id="261" name="Picture 1" descr=""/>
          <p:cNvPicPr/>
          <p:nvPr/>
        </p:nvPicPr>
        <p:blipFill>
          <a:blip r:embed="rId2"/>
          <a:stretch/>
        </p:blipFill>
        <p:spPr>
          <a:xfrm>
            <a:off x="7425000" y="3457080"/>
            <a:ext cx="612720" cy="527040"/>
          </a:xfrm>
          <a:prstGeom prst="rect">
            <a:avLst/>
          </a:prstGeom>
          <a:ln w="0">
            <a:noFill/>
          </a:ln>
        </p:spPr>
      </p:pic>
      <p:sp>
        <p:nvSpPr>
          <p:cNvPr id="262" name="hcSlideMaster.1_Quote_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hcSlideMaster.1_Custom Layou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26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6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26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6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270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271" name="Picture 3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272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hcSlideMaster350.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hcSlideMaster.1_Content 3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sldNum" idx="11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966E97-F7D6-4E79-A1A7-4A7C64C5187C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7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27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7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7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28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8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8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28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28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28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88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9" name="object 12"/>
          <p:cNvGrpSpPr/>
          <p:nvPr/>
        </p:nvGrpSpPr>
        <p:grpSpPr>
          <a:xfrm>
            <a:off x="352440" y="1270080"/>
            <a:ext cx="659520" cy="830160"/>
            <a:chOff x="352440" y="1270080"/>
            <a:chExt cx="659520" cy="830160"/>
          </a:xfrm>
        </p:grpSpPr>
        <p:sp>
          <p:nvSpPr>
            <p:cNvPr id="290" name="object 13"/>
            <p:cNvSpPr/>
            <p:nvPr/>
          </p:nvSpPr>
          <p:spPr>
            <a:xfrm>
              <a:off x="51480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1" name="object 14"/>
            <p:cNvSpPr/>
            <p:nvPr/>
          </p:nvSpPr>
          <p:spPr>
            <a:xfrm>
              <a:off x="56016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2" name="object 15"/>
            <p:cNvSpPr/>
            <p:nvPr/>
          </p:nvSpPr>
          <p:spPr>
            <a:xfrm>
              <a:off x="605160" y="1270080"/>
              <a:ext cx="406800" cy="83016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678639" y="0"/>
                  </a:moveTo>
                  <a:lnTo>
                    <a:pt x="150079" y="1383088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3" name="object 16"/>
            <p:cNvSpPr/>
            <p:nvPr/>
          </p:nvSpPr>
          <p:spPr>
            <a:xfrm>
              <a:off x="650520" y="1270080"/>
              <a:ext cx="316440" cy="83016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830160"/>
                <a:gd name="textAreaBottom" fmla="*/ 830880 h 830160"/>
              </a:gdLst>
              <a:ahLst/>
              <a:rect l="textAreaLeft" t="textAreaTop" r="textAreaRight" b="textAreaBottom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noFill/>
            <a:ln w="10470">
              <a:solidFill>
                <a:srgbClr val="a0cd8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294" name="object 17"/>
            <p:cNvSpPr/>
            <p:nvPr/>
          </p:nvSpPr>
          <p:spPr>
            <a:xfrm>
              <a:off x="352440" y="1379880"/>
              <a:ext cx="437760" cy="626400"/>
            </a:xfrm>
            <a:custGeom>
              <a:avLst/>
              <a:gdLst>
                <a:gd name="textAreaLeft" fmla="*/ 0 w 437760"/>
                <a:gd name="textAreaRight" fmla="*/ 438480 w 437760"/>
                <a:gd name="textAreaTop" fmla="*/ 0 h 626400"/>
                <a:gd name="textAreaBottom" fmla="*/ 627120 h 626400"/>
              </a:gdLst>
              <a:ahLst/>
              <a:rect l="textAreaLeft" t="textAreaTop" r="textAreaRight" b="textAreaBottom"/>
              <a:pathLst>
                <a:path w="730250" h="1044575">
                  <a:moveTo>
                    <a:pt x="372407" y="923678"/>
                  </a:moveTo>
                  <a:lnTo>
                    <a:pt x="268630" y="923678"/>
                  </a:lnTo>
                  <a:lnTo>
                    <a:pt x="268630" y="1044355"/>
                  </a:lnTo>
                  <a:lnTo>
                    <a:pt x="6575" y="1044355"/>
                  </a:lnTo>
                  <a:lnTo>
                    <a:pt x="6575" y="429117"/>
                  </a:lnTo>
                  <a:lnTo>
                    <a:pt x="201145" y="310262"/>
                  </a:lnTo>
                  <a:lnTo>
                    <a:pt x="320555" y="0"/>
                  </a:lnTo>
                  <a:lnTo>
                    <a:pt x="729988" y="0"/>
                  </a:lnTo>
                </a:path>
                <a:path w="730250" h="1044575">
                  <a:moveTo>
                    <a:pt x="268630" y="923689"/>
                  </a:moveTo>
                  <a:lnTo>
                    <a:pt x="0" y="779913"/>
                  </a:lnTo>
                </a:path>
                <a:path w="730250" h="1044575">
                  <a:moveTo>
                    <a:pt x="201145" y="310807"/>
                  </a:moveTo>
                  <a:lnTo>
                    <a:pt x="610368" y="310807"/>
                  </a:lnTo>
                </a:path>
                <a:path w="730250" h="1044575">
                  <a:moveTo>
                    <a:pt x="201177" y="310587"/>
                  </a:moveTo>
                  <a:lnTo>
                    <a:pt x="168089" y="224631"/>
                  </a:lnTo>
                  <a:lnTo>
                    <a:pt x="49370" y="224631"/>
                  </a:lnTo>
                  <a:lnTo>
                    <a:pt x="49370" y="310838"/>
                  </a:lnTo>
                  <a:lnTo>
                    <a:pt x="201177" y="310838"/>
                  </a:lnTo>
                </a:path>
                <a:path w="730250" h="1044575">
                  <a:moveTo>
                    <a:pt x="558621" y="444834"/>
                  </a:moveTo>
                  <a:lnTo>
                    <a:pt x="357036" y="445567"/>
                  </a:lnTo>
                  <a:lnTo>
                    <a:pt x="457766" y="707287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pic>
          <p:nvPicPr>
            <p:cNvPr id="295" name="object 18" descr=""/>
            <p:cNvPicPr/>
            <p:nvPr/>
          </p:nvPicPr>
          <p:blipFill>
            <a:blip r:embed="rId6"/>
            <a:stretch/>
          </p:blipFill>
          <p:spPr>
            <a:xfrm>
              <a:off x="409320" y="1639440"/>
              <a:ext cx="111600" cy="1108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96" name="Picture 2" descr=""/>
          <p:cNvPicPr/>
          <p:nvPr/>
        </p:nvPicPr>
        <p:blipFill>
          <a:blip r:embed="rId7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297" name="Graphic 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298" name="hcSlideMaster350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hcSlideMaster.2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10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6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08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09" name="hcSlideMaster87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hcSlideMaster169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hcSlideMaster68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hcSlideMaster.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hcSlideMaster253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hcSlideMaster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sldNum" idx="12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0EE781-0E6D-45AA-B2B7-09735CD4DCD8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19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17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18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19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20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1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22" name="TextBox 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2023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Graphic 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24" name="Picture 4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25" name="hcSlideMaster350.1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hcSlideMaster.2_Blank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sldNum" idx="13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2687DE-95ED-4D9F-8C99-EFC55B14B437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7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hcSlideMaster165.DEFAUL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hcSlideMaster.DEFAUL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10"/>
          <p:cNvSpPr/>
          <p:nvPr/>
        </p:nvSpPr>
        <p:spPr>
          <a:xfrm>
            <a:off x="0" y="6418080"/>
            <a:ext cx="7675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fld id="{6FD0C497-5D0D-4BC9-9C03-0D2B86D03421}" type="slidenum">
              <a:rPr b="1" lang="en-US" sz="1200" spc="-1" strike="noStrike">
                <a:solidFill>
                  <a:srgbClr val="ffffff"/>
                </a:solidFill>
                <a:latin typeface="Poppi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1" name="Straight Connector 11"/>
          <p:cNvCxnSpPr/>
          <p:nvPr/>
        </p:nvCxnSpPr>
        <p:spPr>
          <a:xfrm>
            <a:off x="267120" y="6316200"/>
            <a:ext cx="244800" cy="72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332" name="Straight Connector 12"/>
          <p:cNvCxnSpPr/>
          <p:nvPr/>
        </p:nvCxnSpPr>
        <p:spPr>
          <a:xfrm>
            <a:off x="261720" y="1025640"/>
            <a:ext cx="245160" cy="72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sp>
        <p:nvSpPr>
          <p:cNvPr id="333" name="hcSlideMaster.Doc - 2 columns without subheading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13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33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3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33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38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9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40" name="Graphic 1" descr=""/>
          <p:cNvPicPr/>
          <p:nvPr/>
        </p:nvPicPr>
        <p:blipFill>
          <a:blip r:embed="rId4"/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3" descr=""/>
          <p:cNvPicPr/>
          <p:nvPr/>
        </p:nvPicPr>
        <p:blipFill>
          <a:blip r:embed="rId5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42" name="TextBox 6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hcSlideMaster160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hcSlideMaster334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hcSlideMaster.Title only final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GB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Num" idx="14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dk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78766F-1370-4449-9392-24FD0EA146C8}" type="slidenum">
              <a:rPr b="0" lang="en-GB" sz="800" spc="-1" strike="noStrike">
                <a:solidFill>
                  <a:schemeClr val="dk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6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bg object 16" descr=""/>
          <p:cNvPicPr/>
          <p:nvPr/>
        </p:nvPicPr>
        <p:blipFill>
          <a:blip r:embed="rId2"/>
          <a:stretch/>
        </p:blipFill>
        <p:spPr>
          <a:xfrm>
            <a:off x="9698760" y="6413040"/>
            <a:ext cx="2139120" cy="169920"/>
          </a:xfrm>
          <a:prstGeom prst="rect">
            <a:avLst/>
          </a:prstGeom>
          <a:ln w="0">
            <a:noFill/>
          </a:ln>
        </p:spPr>
      </p:pic>
      <p:pic>
        <p:nvPicPr>
          <p:cNvPr id="348" name="bg object 17" descr=""/>
          <p:cNvPicPr/>
          <p:nvPr/>
        </p:nvPicPr>
        <p:blipFill>
          <a:blip r:embed="rId3"/>
          <a:stretch/>
        </p:blipFill>
        <p:spPr>
          <a:xfrm>
            <a:off x="11363760" y="338400"/>
            <a:ext cx="481320" cy="119160"/>
          </a:xfrm>
          <a:prstGeom prst="rect">
            <a:avLst/>
          </a:prstGeom>
          <a:ln w="0">
            <a:noFill/>
          </a:ln>
        </p:spPr>
      </p:pic>
      <p:pic>
        <p:nvPicPr>
          <p:cNvPr id="349" name="bg object 18" descr=""/>
          <p:cNvPicPr/>
          <p:nvPr/>
        </p:nvPicPr>
        <p:blipFill>
          <a:blip r:embed="rId4"/>
          <a:stretch/>
        </p:blipFill>
        <p:spPr>
          <a:xfrm>
            <a:off x="11090520" y="316440"/>
            <a:ext cx="222840" cy="156960"/>
          </a:xfrm>
          <a:prstGeom prst="rect">
            <a:avLst/>
          </a:prstGeom>
          <a:ln w="0">
            <a:noFill/>
          </a:ln>
        </p:spPr>
      </p:pic>
      <p:pic>
        <p:nvPicPr>
          <p:cNvPr id="350" name="bg object 19" descr=""/>
          <p:cNvPicPr/>
          <p:nvPr/>
        </p:nvPicPr>
        <p:blipFill>
          <a:blip r:embed="rId5"/>
          <a:stretch/>
        </p:blipFill>
        <p:spPr>
          <a:xfrm>
            <a:off x="11223360" y="372240"/>
            <a:ext cx="96480" cy="96840"/>
          </a:xfrm>
          <a:prstGeom prst="rect">
            <a:avLst/>
          </a:prstGeom>
          <a:ln w="0">
            <a:noFill/>
          </a:ln>
        </p:spPr>
      </p:pic>
      <p:pic>
        <p:nvPicPr>
          <p:cNvPr id="351" name="bg object 20" descr=""/>
          <p:cNvPicPr/>
          <p:nvPr/>
        </p:nvPicPr>
        <p:blipFill>
          <a:blip r:embed="rId6"/>
          <a:stretch/>
        </p:blipFill>
        <p:spPr>
          <a:xfrm>
            <a:off x="11084040" y="372240"/>
            <a:ext cx="96120" cy="96840"/>
          </a:xfrm>
          <a:prstGeom prst="rect">
            <a:avLst/>
          </a:prstGeom>
          <a:ln w="0">
            <a:noFill/>
          </a:ln>
        </p:spPr>
      </p:pic>
      <p:pic>
        <p:nvPicPr>
          <p:cNvPr id="352" name="bg object 21" descr=""/>
          <p:cNvPicPr/>
          <p:nvPr/>
        </p:nvPicPr>
        <p:blipFill>
          <a:blip r:embed="rId7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353" name="hcSlideMaster576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hcSlideMaster98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hcSlideMaster.Two Content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33280" y="631080"/>
            <a:ext cx="11957760" cy="44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ftr" idx="15"/>
          </p:nvPr>
        </p:nvSpPr>
        <p:spPr>
          <a:xfrm>
            <a:off x="515880" y="6394680"/>
            <a:ext cx="3935520" cy="9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  <a:defRPr b="0" lang="en-US" sz="600" spc="-1" strike="noStrike">
                <a:solidFill>
                  <a:srgbClr val="0000b3"/>
                </a:solidFill>
                <a:latin typeface="Microsoft Sans Serif"/>
              </a:defRPr>
            </a:lvl1pPr>
          </a:lstStyle>
          <a:p>
            <a:pPr marL="12600" indent="0" defTabSz="91440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b3"/>
                </a:solidFill>
                <a:latin typeface="Microsoft Sans Serif"/>
              </a:rPr>
              <a:t>&lt;footer&gt;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8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1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lt1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hcSlideMaster.6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3" name="Group 2"/>
          <p:cNvGrpSpPr/>
          <p:nvPr/>
        </p:nvGrpSpPr>
        <p:grpSpPr>
          <a:xfrm>
            <a:off x="11170440" y="295200"/>
            <a:ext cx="760680" cy="157320"/>
            <a:chOff x="11170440" y="295200"/>
            <a:chExt cx="760680" cy="157320"/>
          </a:xfrm>
        </p:grpSpPr>
        <p:sp>
          <p:nvSpPr>
            <p:cNvPr id="364" name="object 6"/>
            <p:cNvSpPr/>
            <p:nvPr/>
          </p:nvSpPr>
          <p:spPr>
            <a:xfrm>
              <a:off x="11553480" y="3171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65" name="object 7"/>
            <p:cNvSpPr/>
            <p:nvPr/>
          </p:nvSpPr>
          <p:spPr>
            <a:xfrm>
              <a:off x="11788920" y="3171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66" name="object 8"/>
            <p:cNvGrpSpPr/>
            <p:nvPr/>
          </p:nvGrpSpPr>
          <p:grpSpPr>
            <a:xfrm>
              <a:off x="11170440" y="295200"/>
              <a:ext cx="235800" cy="157320"/>
              <a:chOff x="11170440" y="295200"/>
              <a:chExt cx="235800" cy="157320"/>
            </a:xfrm>
          </p:grpSpPr>
          <p:sp>
            <p:nvSpPr>
              <p:cNvPr id="367" name="object 9"/>
              <p:cNvSpPr/>
              <p:nvPr/>
            </p:nvSpPr>
            <p:spPr>
              <a:xfrm>
                <a:off x="11176920" y="2952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68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309760" y="3510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69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170440" y="3510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70" name="object 22"/>
            <p:cNvSpPr/>
            <p:nvPr/>
          </p:nvSpPr>
          <p:spPr>
            <a:xfrm>
              <a:off x="11449800" y="3171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71" name="object 23"/>
            <p:cNvGrpSpPr/>
            <p:nvPr/>
          </p:nvGrpSpPr>
          <p:grpSpPr>
            <a:xfrm>
              <a:off x="11170440" y="295200"/>
              <a:ext cx="235800" cy="157320"/>
              <a:chOff x="11170440" y="295200"/>
              <a:chExt cx="235800" cy="157320"/>
            </a:xfrm>
          </p:grpSpPr>
          <p:sp>
            <p:nvSpPr>
              <p:cNvPr id="372" name="object 24"/>
              <p:cNvSpPr/>
              <p:nvPr/>
            </p:nvSpPr>
            <p:spPr>
              <a:xfrm>
                <a:off x="11176920" y="2952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73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309760" y="3510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74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170440" y="3510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375" name="Picture 24" descr=""/>
          <p:cNvPicPr/>
          <p:nvPr/>
        </p:nvPicPr>
        <p:blipFill>
          <a:blip r:embed="rId6"/>
          <a:stretch/>
        </p:blipFill>
        <p:spPr>
          <a:xfrm>
            <a:off x="264240" y="3171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376" name="Graphic 2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88760" y="65019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377" name="hcSlideMaster242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hcSlideMaster125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hcSlideMaster.9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9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roup 14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381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382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3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384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85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6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87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388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389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390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1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92" name="TextBox 3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Picture 4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394" name="Graphic 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395" name="Graphic 8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232880" y="101160"/>
            <a:ext cx="6148080" cy="6316200"/>
          </a:xfrm>
          <a:prstGeom prst="rect">
            <a:avLst/>
          </a:prstGeom>
          <a:ln w="0">
            <a:noFill/>
          </a:ln>
        </p:spPr>
      </p:pic>
      <p:sp>
        <p:nvSpPr>
          <p:cNvPr id="396" name="hcSlideMaster87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hcSlideMaster78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hcSlideMaster253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hcSlideMaster.Divider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11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roup 8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401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02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403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04" name="object 14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05" name="object 15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06" name="Picture 14" descr=""/>
          <p:cNvPicPr/>
          <p:nvPr/>
        </p:nvPicPr>
        <p:blipFill>
          <a:blip r:embed="rId4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07" name="TextBox 1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0000b3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Graphic 1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09" name="hcSlideMaster123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hcSlideMaster87.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hcSlideMaster242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hcSlideMaster125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hcSlideMaster.1_Contents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7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roup 1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1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1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1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2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2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2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2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2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2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2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2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28" name="TextBox 35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9" name="object 8"/>
          <p:cNvGrpSpPr/>
          <p:nvPr/>
        </p:nvGrpSpPr>
        <p:grpSpPr>
          <a:xfrm>
            <a:off x="358920" y="1264680"/>
            <a:ext cx="659880" cy="835560"/>
            <a:chOff x="358920" y="1264680"/>
            <a:chExt cx="659880" cy="835560"/>
          </a:xfrm>
        </p:grpSpPr>
        <p:sp>
          <p:nvSpPr>
            <p:cNvPr id="430" name="object 9"/>
            <p:cNvSpPr/>
            <p:nvPr/>
          </p:nvSpPr>
          <p:spPr>
            <a:xfrm>
              <a:off x="547920" y="1578240"/>
              <a:ext cx="168120" cy="208080"/>
            </a:xfrm>
            <a:custGeom>
              <a:avLst/>
              <a:gdLst>
                <a:gd name="textAreaLeft" fmla="*/ 0 w 168120"/>
                <a:gd name="textAreaRight" fmla="*/ 168840 w 168120"/>
                <a:gd name="textAreaTop" fmla="*/ 0 h 208080"/>
                <a:gd name="textAreaBottom" fmla="*/ 208800 h 208080"/>
              </a:gdLst>
              <a:ahLst/>
              <a:rect l="textAreaLeft" t="textAreaTop" r="textAreaRight" b="textAreaBottom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1" name="object 10"/>
            <p:cNvSpPr/>
            <p:nvPr/>
          </p:nvSpPr>
          <p:spPr>
            <a:xfrm>
              <a:off x="457920" y="1488240"/>
              <a:ext cx="293040" cy="388080"/>
            </a:xfrm>
            <a:custGeom>
              <a:avLst/>
              <a:gdLst>
                <a:gd name="textAreaLeft" fmla="*/ 0 w 293040"/>
                <a:gd name="textAreaRight" fmla="*/ 293760 w 293040"/>
                <a:gd name="textAreaTop" fmla="*/ 0 h 388080"/>
                <a:gd name="textAreaBottom" fmla="*/ 388800 h 388080"/>
              </a:gdLst>
              <a:ahLst/>
              <a:rect l="textAreaLeft" t="textAreaTop" r="textAreaRight" b="textAreaBottom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2" name="object 11"/>
            <p:cNvSpPr/>
            <p:nvPr/>
          </p:nvSpPr>
          <p:spPr>
            <a:xfrm>
              <a:off x="358920" y="1389240"/>
              <a:ext cx="406800" cy="586080"/>
            </a:xfrm>
            <a:custGeom>
              <a:avLst/>
              <a:gdLst>
                <a:gd name="textAreaLeft" fmla="*/ 0 w 406800"/>
                <a:gd name="textAreaRight" fmla="*/ 407520 w 406800"/>
                <a:gd name="textAreaTop" fmla="*/ 0 h 586080"/>
                <a:gd name="textAreaBottom" fmla="*/ 586800 h 586080"/>
              </a:gdLst>
              <a:ahLst/>
              <a:rect l="textAreaLeft" t="textAreaTop" r="textAreaRight" b="textAreaBottom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3" name="object 12"/>
            <p:cNvSpPr/>
            <p:nvPr/>
          </p:nvSpPr>
          <p:spPr>
            <a:xfrm>
              <a:off x="586440" y="1616760"/>
              <a:ext cx="113040" cy="130680"/>
            </a:xfrm>
            <a:custGeom>
              <a:avLst/>
              <a:gdLst>
                <a:gd name="textAreaLeft" fmla="*/ 0 w 113040"/>
                <a:gd name="textAreaRight" fmla="*/ 113760 w 113040"/>
                <a:gd name="textAreaTop" fmla="*/ 0 h 130680"/>
                <a:gd name="textAreaBottom" fmla="*/ 131400 h 130680"/>
              </a:gdLst>
              <a:ahLst/>
              <a:rect l="textAreaLeft" t="textAreaTop" r="textAreaRight" b="textAreaBottom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4" name="object 13"/>
            <p:cNvSpPr/>
            <p:nvPr/>
          </p:nvSpPr>
          <p:spPr>
            <a:xfrm>
              <a:off x="51624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5" name="object 14"/>
            <p:cNvSpPr/>
            <p:nvPr/>
          </p:nvSpPr>
          <p:spPr>
            <a:xfrm>
              <a:off x="56196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6" name="object 15"/>
            <p:cNvSpPr/>
            <p:nvPr/>
          </p:nvSpPr>
          <p:spPr>
            <a:xfrm>
              <a:off x="60768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183e5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7" name="object 16"/>
            <p:cNvSpPr/>
            <p:nvPr/>
          </p:nvSpPr>
          <p:spPr>
            <a:xfrm>
              <a:off x="607680" y="1264680"/>
              <a:ext cx="411120" cy="835560"/>
            </a:xfrm>
            <a:custGeom>
              <a:avLst/>
              <a:gdLst>
                <a:gd name="textAreaLeft" fmla="*/ 0 w 411120"/>
                <a:gd name="textAreaRight" fmla="*/ 411840 w 4111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noFill/>
            <a:ln w="1047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38" name="object 17"/>
            <p:cNvSpPr/>
            <p:nvPr/>
          </p:nvSpPr>
          <p:spPr>
            <a:xfrm>
              <a:off x="653400" y="1264680"/>
              <a:ext cx="319320" cy="835560"/>
            </a:xfrm>
            <a:custGeom>
              <a:avLst/>
              <a:gdLst>
                <a:gd name="textAreaLeft" fmla="*/ 0 w 319320"/>
                <a:gd name="textAreaRight" fmla="*/ 320040 w 319320"/>
                <a:gd name="textAreaTop" fmla="*/ 0 h 835560"/>
                <a:gd name="textAreaBottom" fmla="*/ 836280 h 835560"/>
              </a:gdLst>
              <a:ahLst/>
              <a:rect l="textAreaLeft" t="textAreaTop" r="textAreaRight" b="textAreaBottom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noFill/>
            <a:ln w="10470">
              <a:solidFill>
                <a:srgbClr val="618b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</p:grpSp>
      <p:pic>
        <p:nvPicPr>
          <p:cNvPr id="439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440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441" name="hcSlideMaster87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hcSlideMaster169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hcSlideMaster68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hcSlideMaster.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8000"/>
                </a:solidFill>
                <a:latin typeface="Microsoft Sans Serif"/>
              </a:rPr>
              <a:t>Public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hcSlideMaster253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hcSlideMaster.1_Cover blue 1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9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object 3"/>
          <p:cNvSpPr/>
          <p:nvPr/>
        </p:nvSpPr>
        <p:spPr>
          <a:xfrm>
            <a:off x="323640" y="1693800"/>
            <a:ext cx="2467080" cy="12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77" strike="noStrike">
                <a:solidFill>
                  <a:schemeClr val="lt2"/>
                </a:solidFill>
                <a:latin typeface="DMSans-Medium"/>
              </a:rPr>
              <a:t>ASIA</a:t>
            </a:r>
            <a:r>
              <a:rPr b="0" lang="en-US" sz="1100" spc="219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66" strike="noStrike">
                <a:solidFill>
                  <a:schemeClr val="lt2"/>
                </a:solidFill>
                <a:latin typeface="DMSans-Medium"/>
              </a:rPr>
              <a:t>PACIFIC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25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Rajiv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Gandhi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Infotech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Hinjawadi,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Pune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India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411057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+91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20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6652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9090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object 4"/>
          <p:cNvSpPr/>
          <p:nvPr/>
        </p:nvSpPr>
        <p:spPr>
          <a:xfrm>
            <a:off x="323640" y="3110760"/>
            <a:ext cx="3096360" cy="16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77" strike="noStrike">
                <a:solidFill>
                  <a:schemeClr val="lt2"/>
                </a:solidFill>
                <a:latin typeface="DMSans-Medium"/>
              </a:rPr>
              <a:t>EUROPE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The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European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Innovation</a:t>
            </a:r>
            <a:br>
              <a:rPr sz="1100"/>
            </a:b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and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Development</a:t>
            </a:r>
            <a:r>
              <a:rPr b="0" lang="en-US" sz="1100" spc="-35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Centre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(EIDC)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Olympus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Tachbrook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Park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Warwick,</a:t>
            </a:r>
            <a:r>
              <a:rPr b="0" lang="en-US" sz="1100" spc="-4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UK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CV34</a:t>
            </a:r>
            <a:r>
              <a:rPr b="0" lang="en-US" sz="1100" spc="-21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6RJ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4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+44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(0)</a:t>
            </a:r>
            <a:r>
              <a:rPr b="0" lang="en-US" sz="1100" spc="-32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8443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759</a:t>
            </a:r>
            <a:r>
              <a:rPr b="0" lang="en-US" sz="1100" spc="-29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685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object 5"/>
          <p:cNvSpPr/>
          <p:nvPr/>
        </p:nvSpPr>
        <p:spPr>
          <a:xfrm>
            <a:off x="323280" y="4869360"/>
            <a:ext cx="2295000" cy="12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320" bIns="0" anchor="t">
            <a:spAutoFit/>
          </a:bodyPr>
          <a:p>
            <a:pPr marL="6480" defTabSz="914400">
              <a:lnSpc>
                <a:spcPct val="120000"/>
              </a:lnSpc>
              <a:spcBef>
                <a:spcPts val="247"/>
              </a:spcBef>
            </a:pPr>
            <a:r>
              <a:rPr b="0" lang="en-US" sz="1100" spc="83" strike="noStrike">
                <a:solidFill>
                  <a:schemeClr val="lt2"/>
                </a:solidFill>
                <a:latin typeface="DMSans-Medium"/>
              </a:rPr>
              <a:t>NORTH</a:t>
            </a:r>
            <a:r>
              <a:rPr b="0" lang="en-US" sz="1100" spc="214" strike="noStrike">
                <a:solidFill>
                  <a:schemeClr val="lt2"/>
                </a:solidFill>
                <a:latin typeface="DMSans-Medium"/>
              </a:rPr>
              <a:t> </a:t>
            </a:r>
            <a:r>
              <a:rPr b="0" lang="en-US" sz="1100" spc="83" strike="noStrike">
                <a:solidFill>
                  <a:schemeClr val="lt2"/>
                </a:solidFill>
                <a:latin typeface="DMSans-Medium"/>
              </a:rPr>
              <a:t>AMERICA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6001 Cass </a:t>
            </a: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Avenue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3"/>
              </a:spcBef>
            </a:pP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Suite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600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Detroit</a:t>
            </a:r>
            <a:r>
              <a:rPr b="0" lang="en-US" sz="1100" spc="-3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MI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USA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48202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20000"/>
              </a:lnSpc>
              <a:spcBef>
                <a:spcPts val="201"/>
              </a:spcBef>
            </a:pP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Tel: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+1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248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" strike="noStrike">
                <a:solidFill>
                  <a:srgbClr val="ffffff"/>
                </a:solidFill>
                <a:latin typeface="DM Sans"/>
              </a:rPr>
              <a:t>426</a:t>
            </a:r>
            <a:r>
              <a:rPr b="0" lang="en-US" sz="1100" spc="-18" strike="noStrike">
                <a:solidFill>
                  <a:srgbClr val="ffffff"/>
                </a:solidFill>
                <a:latin typeface="DM Sans"/>
              </a:rPr>
              <a:t> </a:t>
            </a:r>
            <a:r>
              <a:rPr b="0" lang="en-US" sz="1100" spc="-12" strike="noStrike">
                <a:solidFill>
                  <a:srgbClr val="ffffff"/>
                </a:solidFill>
                <a:latin typeface="DM Sans"/>
              </a:rPr>
              <a:t>1482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object 7"/>
          <p:cNvSpPr/>
          <p:nvPr/>
        </p:nvSpPr>
        <p:spPr>
          <a:xfrm>
            <a:off x="9742320" y="1921320"/>
            <a:ext cx="2233080" cy="17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120" bIns="0" anchor="t">
            <a:spAutoFit/>
          </a:bodyPr>
          <a:p>
            <a:pPr marL="198360" defTabSz="914400">
              <a:lnSpc>
                <a:spcPct val="150000"/>
              </a:lnSpc>
              <a:spcBef>
                <a:spcPts val="48"/>
              </a:spcBef>
            </a:pP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 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@tatatechnologies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/TataTech_News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br>
              <a:rPr sz="1100"/>
            </a:br>
            <a:r>
              <a:rPr b="0" lang="en-US" sz="1100" spc="-7" strike="noStrike">
                <a:solidFill>
                  <a:srgbClr val="ffffff"/>
                </a:solidFill>
                <a:latin typeface="DM Sans"/>
              </a:rPr>
              <a:t>/TataTechnologies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6480" defTabSz="914400">
              <a:lnSpc>
                <a:spcPct val="150000"/>
              </a:lnSpc>
              <a:spcBef>
                <a:spcPts val="958"/>
              </a:spcBef>
            </a:pPr>
            <a:r>
              <a:rPr b="0" lang="en-US" sz="1600" spc="-7" strike="noStrike">
                <a:solidFill>
                  <a:schemeClr val="lt2"/>
                </a:solidFill>
                <a:latin typeface="DM Sans"/>
              </a:rPr>
              <a:t>tatatechnologies.com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" name="Graphic 2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49880" y="2021400"/>
            <a:ext cx="131760" cy="131760"/>
          </a:xfrm>
          <a:prstGeom prst="rect">
            <a:avLst/>
          </a:prstGeom>
          <a:ln w="0">
            <a:noFill/>
          </a:ln>
        </p:spPr>
      </p:pic>
      <p:pic>
        <p:nvPicPr>
          <p:cNvPr id="452" name="Graphic 2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741240" y="3002400"/>
            <a:ext cx="145440" cy="136080"/>
          </a:xfrm>
          <a:prstGeom prst="rect">
            <a:avLst/>
          </a:prstGeom>
          <a:ln w="0">
            <a:noFill/>
          </a:ln>
        </p:spPr>
      </p:pic>
      <p:pic>
        <p:nvPicPr>
          <p:cNvPr id="453" name="Graphic 2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741240" y="2507400"/>
            <a:ext cx="149400" cy="122760"/>
          </a:xfrm>
          <a:prstGeom prst="rect">
            <a:avLst/>
          </a:prstGeom>
          <a:ln w="0">
            <a:noFill/>
          </a:ln>
        </p:spPr>
      </p:pic>
      <p:pic>
        <p:nvPicPr>
          <p:cNvPr id="454" name="Picture 30" descr=""/>
          <p:cNvPicPr/>
          <p:nvPr/>
        </p:nvPicPr>
        <p:blipFill>
          <a:blip r:embed="rId8"/>
          <a:srcRect l="0" t="0" r="0" b="-3470"/>
          <a:stretch/>
        </p:blipFill>
        <p:spPr>
          <a:xfrm>
            <a:off x="9732960" y="2771640"/>
            <a:ext cx="165600" cy="113040"/>
          </a:xfrm>
          <a:prstGeom prst="rect">
            <a:avLst/>
          </a:prstGeom>
          <a:ln w="0">
            <a:noFill/>
          </a:ln>
        </p:spPr>
      </p:pic>
      <p:pic>
        <p:nvPicPr>
          <p:cNvPr id="455" name="Graphic 32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749880" y="2274840"/>
            <a:ext cx="131760" cy="131760"/>
          </a:xfrm>
          <a:prstGeom prst="rect">
            <a:avLst/>
          </a:prstGeom>
          <a:ln w="0">
            <a:noFill/>
          </a:ln>
        </p:spPr>
      </p:pic>
      <p:grpSp>
        <p:nvGrpSpPr>
          <p:cNvPr id="456" name="Group 36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5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5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5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6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61" name="object 10" descr=""/>
              <p:cNvPicPr/>
              <p:nvPr/>
            </p:nvPicPr>
            <p:blipFill>
              <a:blip r:embed="rId11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62" name="object 11" descr=""/>
              <p:cNvPicPr/>
              <p:nvPr/>
            </p:nvPicPr>
            <p:blipFill>
              <a:blip r:embed="rId12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6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6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46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66" name="object 25" descr=""/>
              <p:cNvPicPr/>
              <p:nvPr/>
            </p:nvPicPr>
            <p:blipFill>
              <a:blip r:embed="rId13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67" name="object 26" descr=""/>
              <p:cNvPicPr/>
              <p:nvPr/>
            </p:nvPicPr>
            <p:blipFill>
              <a:blip r:embed="rId14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68" name="TextBox 52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Rectangle 1">
            <a:hlinkClick r:id="rId15"/>
          </p:cNvPr>
          <p:cNvSpPr/>
          <p:nvPr/>
        </p:nvSpPr>
        <p:spPr>
          <a:xfrm>
            <a:off x="9684360" y="3375720"/>
            <a:ext cx="2156040" cy="267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0" name="Rectangle 3">
            <a:hlinkClick r:id="rId16"/>
          </p:cNvPr>
          <p:cNvSpPr/>
          <p:nvPr/>
        </p:nvSpPr>
        <p:spPr>
          <a:xfrm>
            <a:off x="9684360" y="198828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1" name="Rectangle 4">
            <a:hlinkClick r:id="rId17"/>
          </p:cNvPr>
          <p:cNvSpPr/>
          <p:nvPr/>
        </p:nvSpPr>
        <p:spPr>
          <a:xfrm>
            <a:off x="9684360" y="224964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2" name="Rectangle 5">
            <a:hlinkClick r:id="rId18"/>
          </p:cNvPr>
          <p:cNvSpPr/>
          <p:nvPr/>
        </p:nvSpPr>
        <p:spPr>
          <a:xfrm>
            <a:off x="9684360" y="248184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3" name="Rectangle 6">
            <a:hlinkClick r:id="rId19"/>
          </p:cNvPr>
          <p:cNvSpPr/>
          <p:nvPr/>
        </p:nvSpPr>
        <p:spPr>
          <a:xfrm>
            <a:off x="9684360" y="273600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474" name="Rectangle 7">
            <a:hlinkClick r:id="rId20"/>
          </p:cNvPr>
          <p:cNvSpPr/>
          <p:nvPr/>
        </p:nvSpPr>
        <p:spPr>
          <a:xfrm>
            <a:off x="9684360" y="2982600"/>
            <a:ext cx="1496160" cy="17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DM Sans"/>
            </a:endParaRPr>
          </a:p>
        </p:txBody>
      </p:sp>
      <p:pic>
        <p:nvPicPr>
          <p:cNvPr id="475" name="Picture 2" descr=""/>
          <p:cNvPicPr/>
          <p:nvPr/>
        </p:nvPicPr>
        <p:blipFill>
          <a:blip r:embed="rId21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476" name="Graphic 9" descr=""/>
          <p:cNvPicPr/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pic>
        <p:nvPicPr>
          <p:cNvPr id="477" name="Graphic 10" descr=""/>
          <p:cNvPicPr/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>
            <a:off x="4744800" y="95760"/>
            <a:ext cx="3281760" cy="6522120"/>
          </a:xfrm>
          <a:prstGeom prst="rect">
            <a:avLst/>
          </a:prstGeom>
          <a:ln w="0">
            <a:noFill/>
          </a:ln>
        </p:spPr>
      </p:pic>
      <p:sp>
        <p:nvSpPr>
          <p:cNvPr id="478" name="hcSlideMaster87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hcSlideMaster78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hcSlideMaster253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hcSlideMaster.Closing slid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6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7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chemeClr val="dk2"/>
                </a:solidFill>
                <a:latin typeface="DM Sans"/>
              </a:rPr>
              <a:t>© Copyright 2024 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01280" y="6413760"/>
            <a:ext cx="2134800" cy="168120"/>
          </a:xfrm>
          <a:prstGeom prst="rect">
            <a:avLst/>
          </a:prstGeom>
          <a:ln w="0">
            <a:noFill/>
          </a:ln>
        </p:spPr>
      </p:pic>
      <p:grpSp>
        <p:nvGrpSpPr>
          <p:cNvPr id="484" name="Group 84"/>
          <p:cNvGrpSpPr/>
          <p:nvPr/>
        </p:nvGrpSpPr>
        <p:grpSpPr>
          <a:xfrm>
            <a:off x="11084040" y="316440"/>
            <a:ext cx="761040" cy="157320"/>
            <a:chOff x="11084040" y="316440"/>
            <a:chExt cx="761040" cy="157320"/>
          </a:xfrm>
        </p:grpSpPr>
        <p:sp>
          <p:nvSpPr>
            <p:cNvPr id="485" name="object 11"/>
            <p:cNvSpPr/>
            <p:nvPr/>
          </p:nvSpPr>
          <p:spPr>
            <a:xfrm>
              <a:off x="11363760" y="33840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86" name="object 12"/>
            <p:cNvGrpSpPr/>
            <p:nvPr/>
          </p:nvGrpSpPr>
          <p:grpSpPr>
            <a:xfrm>
              <a:off x="11084040" y="316440"/>
              <a:ext cx="235800" cy="157320"/>
              <a:chOff x="11084040" y="316440"/>
              <a:chExt cx="235800" cy="157320"/>
            </a:xfrm>
          </p:grpSpPr>
          <p:sp>
            <p:nvSpPr>
              <p:cNvPr id="487" name="object 13"/>
              <p:cNvSpPr/>
              <p:nvPr/>
            </p:nvSpPr>
            <p:spPr>
              <a:xfrm>
                <a:off x="11090520" y="31644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488" name="object 14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24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9" name="object 15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24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pic>
        <p:nvPicPr>
          <p:cNvPr id="490" name="Picture 90" descr=""/>
          <p:cNvPicPr/>
          <p:nvPr/>
        </p:nvPicPr>
        <p:blipFill>
          <a:blip r:embed="rId6"/>
          <a:stretch/>
        </p:blipFill>
        <p:spPr>
          <a:xfrm>
            <a:off x="333360" y="335880"/>
            <a:ext cx="1775880" cy="125640"/>
          </a:xfrm>
          <a:prstGeom prst="rect">
            <a:avLst/>
          </a:prstGeom>
          <a:ln w="0">
            <a:noFill/>
          </a:ln>
        </p:spPr>
      </p:pic>
      <p:sp>
        <p:nvSpPr>
          <p:cNvPr id="491" name="hcSlideMaster784.2_Title Slide_ER&amp;D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hcSlideMaster784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hcSlideMaster608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hcSlideMaster1089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hcSlideMaster.Process Flow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7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roup 7"/>
          <p:cNvGrpSpPr/>
          <p:nvPr/>
        </p:nvGrpSpPr>
        <p:grpSpPr>
          <a:xfrm>
            <a:off x="11084040" y="316800"/>
            <a:ext cx="761040" cy="157320"/>
            <a:chOff x="11084040" y="316800"/>
            <a:chExt cx="761040" cy="157320"/>
          </a:xfrm>
        </p:grpSpPr>
        <p:sp>
          <p:nvSpPr>
            <p:cNvPr id="497" name="object 6"/>
            <p:cNvSpPr/>
            <p:nvPr/>
          </p:nvSpPr>
          <p:spPr>
            <a:xfrm>
              <a:off x="1146744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sp>
          <p:nvSpPr>
            <p:cNvPr id="498" name="object 7"/>
            <p:cNvSpPr/>
            <p:nvPr/>
          </p:nvSpPr>
          <p:spPr>
            <a:xfrm>
              <a:off x="11702880" y="338760"/>
              <a:ext cx="142200" cy="1195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499" name="object 8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00" name="object 9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01" name="object 10" descr=""/>
              <p:cNvPicPr/>
              <p:nvPr/>
            </p:nvPicPr>
            <p:blipFill>
              <a:blip r:embed="rId2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02" name="object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03" name="object 22"/>
            <p:cNvSpPr/>
            <p:nvPr/>
          </p:nvSpPr>
          <p:spPr>
            <a:xfrm>
              <a:off x="11363760" y="338760"/>
              <a:ext cx="481320" cy="119520"/>
            </a:xfrm>
            <a:custGeom>
              <a:avLst/>
              <a:gdLst>
                <a:gd name="textAreaLeft" fmla="*/ 0 w 481320"/>
                <a:gd name="textAreaRight" fmla="*/ 482040 w 48132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350" spc="-1" strike="noStrike">
                <a:solidFill>
                  <a:schemeClr val="dk1"/>
                </a:solidFill>
                <a:latin typeface="DM Sans"/>
              </a:endParaRPr>
            </a:p>
          </p:txBody>
        </p:sp>
        <p:grpSp>
          <p:nvGrpSpPr>
            <p:cNvPr id="504" name="object 23"/>
            <p:cNvGrpSpPr/>
            <p:nvPr/>
          </p:nvGrpSpPr>
          <p:grpSpPr>
            <a:xfrm>
              <a:off x="11084040" y="316800"/>
              <a:ext cx="235800" cy="157320"/>
              <a:chOff x="11084040" y="316800"/>
              <a:chExt cx="235800" cy="157320"/>
            </a:xfrm>
          </p:grpSpPr>
          <p:sp>
            <p:nvSpPr>
              <p:cNvPr id="505" name="object 24"/>
              <p:cNvSpPr/>
              <p:nvPr/>
            </p:nvSpPr>
            <p:spPr>
              <a:xfrm>
                <a:off x="11090520" y="316800"/>
                <a:ext cx="223200" cy="157320"/>
              </a:xfrm>
              <a:custGeom>
                <a:avLst/>
                <a:gdLst>
                  <a:gd name="textAreaLeft" fmla="*/ 0 w 223200"/>
                  <a:gd name="textAreaRight" fmla="*/ 223920 w 223200"/>
                  <a:gd name="textAreaTop" fmla="*/ 0 h 157320"/>
                  <a:gd name="textAreaBottom" fmla="*/ 158040 h 157320"/>
                </a:gdLst>
                <a:ahLst/>
                <a:rect l="textAreaLeft" t="textAreaTop" r="textAreaRight" b="textAreaBottom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350" spc="-1" strike="noStrike">
                  <a:solidFill>
                    <a:schemeClr val="dk1"/>
                  </a:solidFill>
                  <a:latin typeface="DM Sans"/>
                </a:endParaRPr>
              </a:p>
            </p:txBody>
          </p:sp>
          <p:pic>
            <p:nvPicPr>
              <p:cNvPr id="506" name="object 25" descr=""/>
              <p:cNvPicPr/>
              <p:nvPr/>
            </p:nvPicPr>
            <p:blipFill>
              <a:blip r:embed="rId4"/>
              <a:stretch/>
            </p:blipFill>
            <p:spPr>
              <a:xfrm>
                <a:off x="11223360" y="372600"/>
                <a:ext cx="96480" cy="96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07" name="object 26" descr=""/>
              <p:cNvPicPr/>
              <p:nvPr/>
            </p:nvPicPr>
            <p:blipFill>
              <a:blip r:embed="rId5"/>
              <a:stretch/>
            </p:blipFill>
            <p:spPr>
              <a:xfrm>
                <a:off x="11084040" y="372600"/>
                <a:ext cx="96120" cy="968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508" name="TextBox 3"/>
          <p:cNvSpPr/>
          <p:nvPr/>
        </p:nvSpPr>
        <p:spPr>
          <a:xfrm>
            <a:off x="437400" y="6373440"/>
            <a:ext cx="6098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600" spc="-21" strike="noStrike">
                <a:solidFill>
                  <a:srgbClr val="ffffff"/>
                </a:solidFill>
                <a:latin typeface="DM Sans"/>
              </a:rPr>
              <a:t>© Copyright 2024 Tata Technologies. All rights reserved. All other trademarks are trademarks of their respective owners.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9" name="Picture 2" descr=""/>
          <p:cNvPicPr/>
          <p:nvPr/>
        </p:nvPicPr>
        <p:blipFill>
          <a:blip r:embed="rId6"/>
          <a:stretch/>
        </p:blipFill>
        <p:spPr>
          <a:xfrm>
            <a:off x="334440" y="333360"/>
            <a:ext cx="1774800" cy="125640"/>
          </a:xfrm>
          <a:prstGeom prst="rect">
            <a:avLst/>
          </a:prstGeom>
          <a:ln w="0">
            <a:noFill/>
          </a:ln>
        </p:spPr>
      </p:pic>
      <p:pic>
        <p:nvPicPr>
          <p:cNvPr id="510" name="Graphic 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704160" y="6408000"/>
            <a:ext cx="2134800" cy="168120"/>
          </a:xfrm>
          <a:prstGeom prst="rect">
            <a:avLst/>
          </a:prstGeom>
          <a:ln w="0">
            <a:noFill/>
          </a:ln>
        </p:spPr>
      </p:pic>
      <p:sp>
        <p:nvSpPr>
          <p:cNvPr id="511" name="hcSlideMaster87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US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hcSlideMaster78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hcSlideMaster253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0000ff"/>
                </a:solidFill>
                <a:latin typeface="Microsoft Sans Serif"/>
              </a:rPr>
              <a:t>Internal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hcSlideMaster.Blank blueHeader"/>
          <p:cNvSpPr/>
          <p:nvPr/>
        </p:nvSpPr>
        <p:spPr>
          <a:xfrm>
            <a:off x="0" y="0"/>
            <a:ext cx="12191400" cy="272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Microsoft Sans Serif"/>
              </a:rPr>
              <a:t>Classification: </a:t>
            </a:r>
            <a:r>
              <a:rPr b="0" lang="en-IN" sz="1200" spc="-1" strike="noStrike">
                <a:solidFill>
                  <a:srgbClr val="ffa500"/>
                </a:solidFill>
                <a:latin typeface="Microsoft Sans Serif"/>
              </a:rPr>
              <a:t>Confidential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1"/>
          <p:cNvSpPr>
            <a:spLocks noGrp="1"/>
          </p:cNvSpPr>
          <p:nvPr>
            <p:ph type="sldNum" idx="16"/>
          </p:nvPr>
        </p:nvSpPr>
        <p:spPr>
          <a:xfrm>
            <a:off x="0" y="6356520"/>
            <a:ext cx="4906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800" spc="-1" strike="noStrike">
                <a:solidFill>
                  <a:schemeClr val="lt1"/>
                </a:solidFill>
                <a:latin typeface="DM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8B51A3-71B5-4830-A01E-958C66A9762D}" type="slidenum">
              <a:rPr b="0" lang="en-GB" sz="800" spc="-1" strike="noStrike">
                <a:solidFill>
                  <a:schemeClr val="lt1"/>
                </a:solidFill>
                <a:latin typeface="DM Sans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icture Placeholder 9"/>
          <p:cNvSpPr/>
          <p:nvPr/>
        </p:nvSpPr>
        <p:spPr>
          <a:xfrm>
            <a:off x="5941800" y="816840"/>
            <a:ext cx="6242040" cy="5176440"/>
          </a:xfrm>
          <a:custGeom>
            <a:avLst/>
            <a:gdLst>
              <a:gd name="textAreaLeft" fmla="*/ 0 w 6242040"/>
              <a:gd name="textAreaRight" fmla="*/ 6242760 w 6242040"/>
              <a:gd name="textAreaTop" fmla="*/ 0 h 5176440"/>
              <a:gd name="textAreaBottom" fmla="*/ 5177160 h 5176440"/>
            </a:gdLst>
            <a:ahLst/>
            <a:rect l="textAreaLeft" t="textAreaTop" r="textAreaRight" b="textAreaBottom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245520" y="2600280"/>
            <a:ext cx="5222880" cy="131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28bff"/>
                </a:solidFill>
                <a:latin typeface="DM Sans"/>
              </a:rPr>
              <a:t>AI Powered Test Automation Platform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/>
          </p:nvPr>
        </p:nvSpPr>
        <p:spPr>
          <a:xfrm>
            <a:off x="245520" y="4891680"/>
            <a:ext cx="42912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DM Sans"/>
              </a:rPr>
              <a:t>25-Aug-2026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9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13240" y="289440"/>
            <a:ext cx="5345640" cy="450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b3"/>
                </a:solidFill>
                <a:latin typeface="Arial"/>
              </a:rPr>
              <a:t>The Real Cost of Getting to “Automated”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577"/>
          <p:cNvSpPr/>
          <p:nvPr/>
        </p:nvSpPr>
        <p:spPr>
          <a:xfrm>
            <a:off x="233280" y="663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PROBLEM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578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3" name="TextBox 579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Every project pays this price before a single automated regression test ever runs.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ounded Rectangle 580"/>
          <p:cNvSpPr/>
          <p:nvPr/>
        </p:nvSpPr>
        <p:spPr>
          <a:xfrm>
            <a:off x="609480" y="1900080"/>
            <a:ext cx="5201280" cy="1449720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5" name="TextBox 581"/>
          <p:cNvSpPr/>
          <p:nvPr/>
        </p:nvSpPr>
        <p:spPr>
          <a:xfrm>
            <a:off x="869400" y="2090160"/>
            <a:ext cx="468108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97" strike="noStrike">
                <a:solidFill>
                  <a:srgbClr val="ffffff"/>
                </a:solidFill>
                <a:latin typeface="Arial"/>
              </a:rPr>
              <a:t>FRAMEWORK SETUP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40824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2–4 weeks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40824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DM Sans"/>
              </a:rPr>
              <a:t>to build the base architecture — page objects, configs, reporting, CI hooks — before a single test case is automated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Oval 582"/>
          <p:cNvSpPr/>
          <p:nvPr/>
        </p:nvSpPr>
        <p:spPr>
          <a:xfrm>
            <a:off x="5846040" y="2374920"/>
            <a:ext cx="499680" cy="499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2400" spc="-1" strike="noStrike">
                <a:solidFill>
                  <a:srgbClr val="ffa500"/>
                </a:solidFill>
                <a:latin typeface="Arial"/>
              </a:rPr>
              <a:t>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ounded Rectangle 583"/>
          <p:cNvSpPr/>
          <p:nvPr/>
        </p:nvSpPr>
        <p:spPr>
          <a:xfrm>
            <a:off x="6381000" y="1900080"/>
            <a:ext cx="5201280" cy="1449720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28" name="TextBox 584"/>
          <p:cNvSpPr/>
          <p:nvPr/>
        </p:nvSpPr>
        <p:spPr>
          <a:xfrm>
            <a:off x="6640920" y="2090160"/>
            <a:ext cx="468108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97" strike="noStrike">
                <a:solidFill>
                  <a:srgbClr val="ffffff"/>
                </a:solidFill>
                <a:latin typeface="Arial"/>
              </a:rPr>
              <a:t>PER TEST CASE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40824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4–8 hours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40824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DM Sans"/>
              </a:rPr>
              <a:t>of locator discovery, scripting, and data wiring — repeated by hand for every single test case in the suite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585"/>
          <p:cNvSpPr/>
          <p:nvPr/>
        </p:nvSpPr>
        <p:spPr>
          <a:xfrm>
            <a:off x="609480" y="3459960"/>
            <a:ext cx="10972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b56300"/>
                </a:solidFill>
                <a:latin typeface="Arial"/>
              </a:rPr>
              <a:t>That's weeks of setup — then hours multiplied by every test case still waiting to be written.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586"/>
          <p:cNvSpPr/>
          <p:nvPr/>
        </p:nvSpPr>
        <p:spPr>
          <a:xfrm>
            <a:off x="609480" y="3800160"/>
            <a:ext cx="10972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00" spc="97" strike="noStrike">
                <a:solidFill>
                  <a:srgbClr val="b56300"/>
                </a:solidFill>
                <a:latin typeface="Arial"/>
              </a:rPr>
              <a:t>AND THE COSTS DON'T STOP THERE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Rounded Rectangle 587"/>
          <p:cNvSpPr/>
          <p:nvPr/>
        </p:nvSpPr>
        <p:spPr>
          <a:xfrm>
            <a:off x="60948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2" name="Oval 588"/>
          <p:cNvSpPr/>
          <p:nvPr/>
        </p:nvSpPr>
        <p:spPr>
          <a:xfrm>
            <a:off x="769320" y="4219920"/>
            <a:ext cx="439560" cy="4395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Box 589"/>
          <p:cNvSpPr/>
          <p:nvPr/>
        </p:nvSpPr>
        <p:spPr>
          <a:xfrm>
            <a:off x="79956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b56300"/>
                </a:solidFill>
                <a:latin typeface="Arial"/>
              </a:rPr>
              <a:t>Scripts Break Constantly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Every UI change risks breaking existing tests — maintenance becomes a permanent, uncosted workstream.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Rounded Rectangle 590"/>
          <p:cNvSpPr/>
          <p:nvPr/>
        </p:nvSpPr>
        <p:spPr>
          <a:xfrm>
            <a:off x="340272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5" name="Oval 591"/>
          <p:cNvSpPr/>
          <p:nvPr/>
        </p:nvSpPr>
        <p:spPr>
          <a:xfrm>
            <a:off x="3562920" y="4219920"/>
            <a:ext cx="439560" cy="4395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592"/>
          <p:cNvSpPr/>
          <p:nvPr/>
        </p:nvSpPr>
        <p:spPr>
          <a:xfrm>
            <a:off x="359280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b56300"/>
                </a:solidFill>
                <a:latin typeface="Arial"/>
              </a:rPr>
              <a:t>Expertise Is Scarce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Skilled automation engineers are hard to hire — and they spend most of their time on plumbing, not test design.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593"/>
          <p:cNvSpPr/>
          <p:nvPr/>
        </p:nvSpPr>
        <p:spPr>
          <a:xfrm>
            <a:off x="619596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38" name="Oval 594"/>
          <p:cNvSpPr/>
          <p:nvPr/>
        </p:nvSpPr>
        <p:spPr>
          <a:xfrm>
            <a:off x="6356160" y="4219920"/>
            <a:ext cx="439560" cy="4395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Box 595"/>
          <p:cNvSpPr/>
          <p:nvPr/>
        </p:nvSpPr>
        <p:spPr>
          <a:xfrm>
            <a:off x="6386040" y="4687920"/>
            <a:ext cx="2212920" cy="84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b56300"/>
                </a:solidFill>
                <a:latin typeface="Arial"/>
              </a:rPr>
              <a:t>Every Project Reinvents the Wheel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Without a shared framework, each team rebuilds its own conventions from scratch — nothing gets reused.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ounded Rectangle 596"/>
          <p:cNvSpPr/>
          <p:nvPr/>
        </p:nvSpPr>
        <p:spPr>
          <a:xfrm>
            <a:off x="8989200" y="4100040"/>
            <a:ext cx="2593080" cy="14796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1" name="Oval 597"/>
          <p:cNvSpPr/>
          <p:nvPr/>
        </p:nvSpPr>
        <p:spPr>
          <a:xfrm>
            <a:off x="9149400" y="4219920"/>
            <a:ext cx="439560" cy="4395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598"/>
          <p:cNvSpPr/>
          <p:nvPr/>
        </p:nvSpPr>
        <p:spPr>
          <a:xfrm>
            <a:off x="9179280" y="4759920"/>
            <a:ext cx="221292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b56300"/>
                </a:solidFill>
                <a:latin typeface="Arial"/>
              </a:rPr>
              <a:t>Regression Suites Fall Behind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950" spc="-1" strike="noStrike">
                <a:solidFill>
                  <a:srgbClr val="222222"/>
                </a:solidFill>
                <a:latin typeface="DM Sans"/>
              </a:rPr>
              <a:t>By the time automation catches up, the application has already changed again — QA becomes the release bottleneck.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Rounded Rectangle 599"/>
          <p:cNvSpPr/>
          <p:nvPr/>
        </p:nvSpPr>
        <p:spPr>
          <a:xfrm>
            <a:off x="609480" y="5720040"/>
            <a:ext cx="10972800" cy="479520"/>
          </a:xfrm>
          <a:prstGeom prst="roundRect">
            <a:avLst>
              <a:gd name="adj" fmla="val 18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4" name="TextBox 600"/>
          <p:cNvSpPr/>
          <p:nvPr/>
        </p:nvSpPr>
        <p:spPr>
          <a:xfrm>
            <a:off x="869400" y="5864040"/>
            <a:ext cx="104526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</a:rPr>
              <a:t>The result: automation gets under-built, or takes months to pay for itself — long before a single release ever benefits.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Box 1"/>
          <p:cNvSpPr/>
          <p:nvPr/>
        </p:nvSpPr>
        <p:spPr>
          <a:xfrm>
            <a:off x="233280" y="627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SOLUTION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The AI-Powered Test Automation Platform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Rounded Rectangle 1001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48" name="TextBox 1002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One AI system that turns a test-case spreadsheet into a complete, framework-compliant automated test suite — ready to run.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ounded Rectangle 1003"/>
          <p:cNvSpPr/>
          <p:nvPr/>
        </p:nvSpPr>
        <p:spPr>
          <a:xfrm>
            <a:off x="609480" y="1900080"/>
            <a:ext cx="10972800" cy="559800"/>
          </a:xfrm>
          <a:prstGeom prst="roundRect">
            <a:avLst>
              <a:gd name="adj" fmla="val 14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0" name="TextBox 1004"/>
          <p:cNvSpPr/>
          <p:nvPr/>
        </p:nvSpPr>
        <p:spPr>
          <a:xfrm>
            <a:off x="869400" y="1973880"/>
            <a:ext cx="1045260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Arial"/>
              </a:rPr>
              <a:t>It's not a script generator. It's an AI engineer that reads requirements, writes automation code, tests its own work, and hands back a working suite.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ounded Rectangle 1005"/>
          <p:cNvSpPr/>
          <p:nvPr/>
        </p:nvSpPr>
        <p:spPr>
          <a:xfrm>
            <a:off x="609480" y="2679840"/>
            <a:ext cx="3099600" cy="28998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2" name="TextBox 1006"/>
          <p:cNvSpPr/>
          <p:nvPr/>
        </p:nvSpPr>
        <p:spPr>
          <a:xfrm>
            <a:off x="829440" y="2880000"/>
            <a:ext cx="2659680" cy="16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89" strike="noStrike">
                <a:solidFill>
                  <a:srgbClr val="0000b3"/>
                </a:solidFill>
                <a:latin typeface="Arial"/>
              </a:rPr>
              <a:t>WHAT YOU PROVIDE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Project name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Application URL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Login credentials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Test-case spreadsheet — step-by-step scenarios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ight Arrow 1007"/>
          <p:cNvSpPr/>
          <p:nvPr/>
        </p:nvSpPr>
        <p:spPr>
          <a:xfrm>
            <a:off x="3859560" y="3904920"/>
            <a:ext cx="479520" cy="44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4" name="Rounded Rectangle 1008"/>
          <p:cNvSpPr/>
          <p:nvPr/>
        </p:nvSpPr>
        <p:spPr>
          <a:xfrm>
            <a:off x="4489560" y="2679840"/>
            <a:ext cx="2949480" cy="2899800"/>
          </a:xfrm>
          <a:prstGeom prst="roundRect">
            <a:avLst>
              <a:gd name="adj" fmla="val 12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5" name="Oval 1009"/>
          <p:cNvSpPr/>
          <p:nvPr/>
        </p:nvSpPr>
        <p:spPr>
          <a:xfrm>
            <a:off x="5514480" y="2790000"/>
            <a:ext cx="899640" cy="89964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AI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1010"/>
          <p:cNvSpPr/>
          <p:nvPr/>
        </p:nvSpPr>
        <p:spPr>
          <a:xfrm>
            <a:off x="4689360" y="3800160"/>
            <a:ext cx="2549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AI-POWERED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AUTOMATION PLATFORM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tabLst>
                <a:tab algn="l" pos="408240"/>
              </a:tabLst>
            </a:pPr>
            <a:r>
              <a:rPr b="1" lang="en-US" sz="1100" spc="-1" strike="noStrike">
                <a:solidFill>
                  <a:srgbClr val="618bff"/>
                </a:solidFill>
                <a:latin typeface="Arial"/>
              </a:rPr>
              <a:t>Reads.  Writes.  Verifies.  Delivers.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ight Arrow 1011"/>
          <p:cNvSpPr/>
          <p:nvPr/>
        </p:nvSpPr>
        <p:spPr>
          <a:xfrm>
            <a:off x="7589520" y="3904920"/>
            <a:ext cx="479520" cy="44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8" name="Rounded Rectangle 1012"/>
          <p:cNvSpPr/>
          <p:nvPr/>
        </p:nvSpPr>
        <p:spPr>
          <a:xfrm>
            <a:off x="8219520" y="2679840"/>
            <a:ext cx="3099600" cy="289980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59" name="TextBox 1013"/>
          <p:cNvSpPr/>
          <p:nvPr/>
        </p:nvSpPr>
        <p:spPr>
          <a:xfrm>
            <a:off x="8439480" y="2880000"/>
            <a:ext cx="2659680" cy="21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89" strike="noStrike">
                <a:solidFill>
                  <a:srgbClr val="0000b3"/>
                </a:solidFill>
                <a:latin typeface="Arial"/>
              </a:rPr>
              <a:t>WHAT YOU GET BACK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A complete automated test project — page objects, test classes, data, config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Follows existing framework conventions automatically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Already compiles and runs — validated before handoff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408240"/>
              </a:tabLst>
            </a:pP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00" spc="-1" strike="noStrike">
                <a:solidFill>
                  <a:srgbClr val="222222"/>
                </a:solidFill>
                <a:latin typeface="DM Sans"/>
              </a:rPr>
              <a:t>Packaged as a ready-to-download zip — plug straight into CI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1014"/>
          <p:cNvSpPr/>
          <p:nvPr/>
        </p:nvSpPr>
        <p:spPr>
          <a:xfrm>
            <a:off x="609480" y="5739840"/>
            <a:ext cx="10972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i="1" lang="en-US" sz="1150" spc="-1" strike="noStrike">
                <a:solidFill>
                  <a:srgbClr val="666666"/>
                </a:solidFill>
                <a:latin typeface="DM Sans"/>
              </a:rPr>
              <a:t>Same inputs, same process — whether the project has 2 test cases or 200.</a:t>
            </a:r>
            <a:endParaRPr b="1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Box 1"/>
          <p:cNvSpPr/>
          <p:nvPr/>
        </p:nvSpPr>
        <p:spPr>
          <a:xfrm>
            <a:off x="233280" y="627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UNDER THE HOOD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How It Works: Inside the Engine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Rounded Rectangle 1002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64" name="TextBox 1003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A technical look at the mechanism — for anyone who wants to know what's actually happening between input and output.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Rounded Rectangle 1004"/>
          <p:cNvSpPr/>
          <p:nvPr/>
        </p:nvSpPr>
        <p:spPr>
          <a:xfrm>
            <a:off x="609480" y="1900080"/>
            <a:ext cx="10972800" cy="519480"/>
          </a:xfrm>
          <a:prstGeom prst="roundRect">
            <a:avLst>
              <a:gd name="adj" fmla="val 14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66" name="TextBox 1005"/>
          <p:cNvSpPr/>
          <p:nvPr/>
        </p:nvSpPr>
        <p:spPr>
          <a:xfrm>
            <a:off x="869400" y="1968840"/>
            <a:ext cx="10452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Arial"/>
              </a:rPr>
              <a:t>At the core: an AI agent with real developer tools — file access and a command line — working inside an isolated copy of the framework repository.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ounded Rectangle 1006"/>
          <p:cNvSpPr/>
          <p:nvPr/>
        </p:nvSpPr>
        <p:spPr>
          <a:xfrm>
            <a:off x="609480" y="2620080"/>
            <a:ext cx="5376240" cy="144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68" name="Oval 1007"/>
          <p:cNvSpPr/>
          <p:nvPr/>
        </p:nvSpPr>
        <p:spPr>
          <a:xfrm>
            <a:off x="779400" y="2729880"/>
            <a:ext cx="459720" cy="45972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1008"/>
          <p:cNvSpPr/>
          <p:nvPr/>
        </p:nvSpPr>
        <p:spPr>
          <a:xfrm>
            <a:off x="829440" y="3279960"/>
            <a:ext cx="4936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Grounded in the Framework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Before writing a line of code, it reads the organization's coding-standards skill file and code templates — so every output matches house convention.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ounded Rectangle 1009"/>
          <p:cNvSpPr/>
          <p:nvPr/>
        </p:nvSpPr>
        <p:spPr>
          <a:xfrm>
            <a:off x="6206040" y="2620080"/>
            <a:ext cx="5376240" cy="144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71" name="Oval 1010"/>
          <p:cNvSpPr/>
          <p:nvPr/>
        </p:nvSpPr>
        <p:spPr>
          <a:xfrm>
            <a:off x="6375960" y="2729880"/>
            <a:ext cx="459720" cy="45972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Box 1011"/>
          <p:cNvSpPr/>
          <p:nvPr/>
        </p:nvSpPr>
        <p:spPr>
          <a:xfrm>
            <a:off x="6426000" y="3279960"/>
            <a:ext cx="4936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Real Developer Tools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Operates inside an isolated workspace with genuine file-editing and command-line access — the same tools a human engineer would use.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Rounded Rectangle 1012"/>
          <p:cNvSpPr/>
          <p:nvPr/>
        </p:nvSpPr>
        <p:spPr>
          <a:xfrm>
            <a:off x="609480" y="4290120"/>
            <a:ext cx="5376240" cy="144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74" name="Oval 1013"/>
          <p:cNvSpPr/>
          <p:nvPr/>
        </p:nvSpPr>
        <p:spPr>
          <a:xfrm>
            <a:off x="779400" y="4399920"/>
            <a:ext cx="459720" cy="45972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1014"/>
          <p:cNvSpPr/>
          <p:nvPr/>
        </p:nvSpPr>
        <p:spPr>
          <a:xfrm>
            <a:off x="829440" y="4950000"/>
            <a:ext cx="4936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Compiles Its Own Code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Runs the build after every change, catches compiler errors, and rewrites the broken parts — without waiting for a human to flag them.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ounded Rectangle 1015"/>
          <p:cNvSpPr/>
          <p:nvPr/>
        </p:nvSpPr>
        <p:spPr>
          <a:xfrm>
            <a:off x="6206040" y="4290120"/>
            <a:ext cx="5376240" cy="144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77" name="Oval 1016"/>
          <p:cNvSpPr/>
          <p:nvPr/>
        </p:nvSpPr>
        <p:spPr>
          <a:xfrm>
            <a:off x="6375960" y="4399920"/>
            <a:ext cx="459720" cy="45972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Box 1017"/>
          <p:cNvSpPr/>
          <p:nvPr/>
        </p:nvSpPr>
        <p:spPr>
          <a:xfrm>
            <a:off x="6426000" y="4950000"/>
            <a:ext cx="4936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Runs Under Guardrails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Every session is capped by a fixed cost and time budget, so a stuck run can't spiral — a safety rail, not a blank cheque.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Box 1018"/>
          <p:cNvSpPr/>
          <p:nvPr/>
        </p:nvSpPr>
        <p:spPr>
          <a:xfrm>
            <a:off x="609480" y="587988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050" spc="-1" strike="noStrike">
                <a:solidFill>
                  <a:srgbClr val="666666"/>
                </a:solidFill>
                <a:latin typeface="DM Sans"/>
              </a:rPr>
              <a:t>Sequence: parse the sheet  →  ground in framework conventions  →  isolate a workspace  →  generate  →  self-test  →  package.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TextBox 1"/>
          <p:cNvSpPr/>
          <p:nvPr/>
        </p:nvSpPr>
        <p:spPr>
          <a:xfrm>
            <a:off x="233280" y="627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THE PAYOFF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Expected Impact: Time &amp; Effort Saved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Rounded Rectangle 1003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3" name="TextBox 1004"/>
          <p:cNvSpPr/>
          <p:nvPr/>
        </p:nvSpPr>
        <p:spPr>
          <a:xfrm>
            <a:off x="609480" y="1419840"/>
            <a:ext cx="109728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Manual test-writing effort grows with every test case a project needs. The generation engine's time barely moves — that gap is where the savings scale.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4" name="Chart 1005"/>
          <p:cNvGraphicFramePr/>
          <p:nvPr/>
        </p:nvGraphicFramePr>
        <p:xfrm>
          <a:off x="609480" y="1900080"/>
          <a:ext cx="6999480" cy="309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85" name="Rounded Rectangle 1006"/>
          <p:cNvSpPr/>
          <p:nvPr/>
        </p:nvSpPr>
        <p:spPr>
          <a:xfrm>
            <a:off x="7929360" y="1900080"/>
            <a:ext cx="3652560" cy="1999800"/>
          </a:xfrm>
          <a:prstGeom prst="roundRect">
            <a:avLst>
              <a:gd name="adj" fmla="val 6000"/>
            </a:avLst>
          </a:prstGeom>
          <a:solidFill>
            <a:srgbClr val="0000b3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6" name="TextBox 1007"/>
          <p:cNvSpPr/>
          <p:nvPr/>
        </p:nvSpPr>
        <p:spPr>
          <a:xfrm>
            <a:off x="8169480" y="2130120"/>
            <a:ext cx="31726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97" strike="noStrike">
                <a:solidFill>
                  <a:srgbClr val="618bff"/>
                </a:solidFill>
                <a:latin typeface="Arial"/>
              </a:rPr>
              <a:t>AI-ASSISTED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40824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&lt; 1 day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408240"/>
              </a:tabLst>
            </a:pPr>
            <a:r>
              <a:rPr b="0" lang="en-US" sz="1150" spc="-1" strike="noStrike">
                <a:solidFill>
                  <a:srgbClr val="d8e0ff"/>
                </a:solidFill>
                <a:latin typeface="DM Sans"/>
              </a:rPr>
              <a:t>even at 100 test cases*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Rounded Rectangle 1008"/>
          <p:cNvSpPr/>
          <p:nvPr/>
        </p:nvSpPr>
        <p:spPr>
          <a:xfrm>
            <a:off x="7929360" y="4119840"/>
            <a:ext cx="3652560" cy="87948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88" name="TextBox 1009"/>
          <p:cNvSpPr/>
          <p:nvPr/>
        </p:nvSpPr>
        <p:spPr>
          <a:xfrm>
            <a:off x="8169480" y="4320000"/>
            <a:ext cx="3172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*Projected from the pilot run's pace. Setting up the workspace and AI session is a small, mostly fixed cost — so adding more test cases adds only a little more time.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Box 1010"/>
          <p:cNvSpPr/>
          <p:nvPr/>
        </p:nvSpPr>
        <p:spPr>
          <a:xfrm>
            <a:off x="609480" y="5220000"/>
            <a:ext cx="109728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050" spc="-1" strike="noStrike">
                <a:solidFill>
                  <a:srgbClr val="666666"/>
                </a:solidFill>
                <a:latin typeface="DM Sans"/>
              </a:rPr>
              <a:t>Manual estimate: ~0.5 engineer-day per test case, typical for locator discovery, scripting, and wiring. AI-assisted figures are extrapolated from a single pilot (2 test cases, 1 application) — confirming this holds at full scale is a near-term priority, not yet proven.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Box 1"/>
          <p:cNvSpPr/>
          <p:nvPr/>
        </p:nvSpPr>
        <p:spPr>
          <a:xfrm>
            <a:off x="233280" y="627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MOMENTUM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Built. Proven. Ready to Scale.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Rounded Rectangle 1004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3" name="TextBox 1005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Phase 1 is done and validated — here's the 90-day path from pilot to production.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1006"/>
          <p:cNvSpPr/>
          <p:nvPr/>
        </p:nvSpPr>
        <p:spPr>
          <a:xfrm>
            <a:off x="609480" y="1900080"/>
            <a:ext cx="10972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97" strike="noStrike">
                <a:solidFill>
                  <a:srgbClr val="12c6b3"/>
                </a:solidFill>
                <a:latin typeface="Arial"/>
              </a:rPr>
              <a:t>WHAT'S DONE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ounded Rectangle 1007"/>
          <p:cNvSpPr/>
          <p:nvPr/>
        </p:nvSpPr>
        <p:spPr>
          <a:xfrm>
            <a:off x="609480" y="2220120"/>
            <a:ext cx="2593080" cy="8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6" name="Oval 1008"/>
          <p:cNvSpPr/>
          <p:nvPr/>
        </p:nvSpPr>
        <p:spPr>
          <a:xfrm>
            <a:off x="749520" y="2319840"/>
            <a:ext cx="399600" cy="39960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Box 1009"/>
          <p:cNvSpPr/>
          <p:nvPr/>
        </p:nvSpPr>
        <p:spPr>
          <a:xfrm>
            <a:off x="789480" y="2769840"/>
            <a:ext cx="227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980" spc="-1" strike="noStrike">
                <a:solidFill>
                  <a:srgbClr val="222222"/>
                </a:solidFill>
                <a:latin typeface="Arial"/>
              </a:rPr>
              <a:t>Generation engine built — CLI + API, full pipeline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ounded Rectangle 1010"/>
          <p:cNvSpPr/>
          <p:nvPr/>
        </p:nvSpPr>
        <p:spPr>
          <a:xfrm>
            <a:off x="3402720" y="2220120"/>
            <a:ext cx="2593080" cy="8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599" name="Oval 1011"/>
          <p:cNvSpPr/>
          <p:nvPr/>
        </p:nvSpPr>
        <p:spPr>
          <a:xfrm>
            <a:off x="3542760" y="2319840"/>
            <a:ext cx="399600" cy="39960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Box 1012"/>
          <p:cNvSpPr/>
          <p:nvPr/>
        </p:nvSpPr>
        <p:spPr>
          <a:xfrm>
            <a:off x="3582720" y="2769840"/>
            <a:ext cx="227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980" spc="-1" strike="noStrike">
                <a:solidFill>
                  <a:srgbClr val="222222"/>
                </a:solidFill>
                <a:latin typeface="Arial"/>
              </a:rPr>
              <a:t>Validated on a real pilot app — compiled clean, first try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ounded Rectangle 1013"/>
          <p:cNvSpPr/>
          <p:nvPr/>
        </p:nvSpPr>
        <p:spPr>
          <a:xfrm>
            <a:off x="6195960" y="2220120"/>
            <a:ext cx="2593080" cy="8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02" name="Oval 1014"/>
          <p:cNvSpPr/>
          <p:nvPr/>
        </p:nvSpPr>
        <p:spPr>
          <a:xfrm>
            <a:off x="6336000" y="2319840"/>
            <a:ext cx="399600" cy="39960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1015"/>
          <p:cNvSpPr/>
          <p:nvPr/>
        </p:nvSpPr>
        <p:spPr>
          <a:xfrm>
            <a:off x="6375960" y="2769840"/>
            <a:ext cx="227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980" spc="-1" strike="noStrike">
                <a:solidFill>
                  <a:srgbClr val="222222"/>
                </a:solidFill>
                <a:latin typeface="Arial"/>
              </a:rPr>
              <a:t>Grounded in the org's framework — zero convention drift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Rounded Rectangle 1016"/>
          <p:cNvSpPr/>
          <p:nvPr/>
        </p:nvSpPr>
        <p:spPr>
          <a:xfrm>
            <a:off x="8989200" y="2220120"/>
            <a:ext cx="2593080" cy="8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05" name="Oval 1017"/>
          <p:cNvSpPr/>
          <p:nvPr/>
        </p:nvSpPr>
        <p:spPr>
          <a:xfrm>
            <a:off x="9129240" y="2319840"/>
            <a:ext cx="399600" cy="39960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1018"/>
          <p:cNvSpPr/>
          <p:nvPr/>
        </p:nvSpPr>
        <p:spPr>
          <a:xfrm>
            <a:off x="9169200" y="2769840"/>
            <a:ext cx="227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980" spc="-1" strike="noStrike">
                <a:solidFill>
                  <a:srgbClr val="222222"/>
                </a:solidFill>
                <a:latin typeface="Arial"/>
              </a:rPr>
              <a:t>Designed to scale — same process for 2 or 200 tests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1019"/>
          <p:cNvSpPr/>
          <p:nvPr/>
        </p:nvSpPr>
        <p:spPr>
          <a:xfrm>
            <a:off x="609480" y="3340080"/>
            <a:ext cx="109728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550" spc="-1" strike="noStrike">
                <a:solidFill>
                  <a:srgbClr val="0000b3"/>
                </a:solidFill>
                <a:latin typeface="Arial"/>
              </a:rPr>
              <a:t>THE NEXT 90 DAYS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8" name="Connector 1020"/>
          <p:cNvCxnSpPr/>
          <p:nvPr/>
        </p:nvCxnSpPr>
        <p:spPr>
          <a:xfrm>
            <a:off x="2364840" y="3939840"/>
            <a:ext cx="7462440" cy="360"/>
          </a:xfrm>
          <a:prstGeom prst="straightConnector1">
            <a:avLst/>
          </a:prstGeom>
          <a:ln w="28575">
            <a:solidFill>
              <a:srgbClr val="d8dcee"/>
            </a:solidFill>
          </a:ln>
        </p:spPr>
      </p:cxnSp>
      <p:sp>
        <p:nvSpPr>
          <p:cNvPr id="609" name="Oval 1021"/>
          <p:cNvSpPr/>
          <p:nvPr/>
        </p:nvSpPr>
        <p:spPr>
          <a:xfrm>
            <a:off x="2144880" y="3719880"/>
            <a:ext cx="439560" cy="439560"/>
          </a:xfrm>
          <a:prstGeom prst="ellipse">
            <a:avLst/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Rounded Rectangle 1022"/>
          <p:cNvSpPr/>
          <p:nvPr/>
        </p:nvSpPr>
        <p:spPr>
          <a:xfrm>
            <a:off x="609480" y="4290120"/>
            <a:ext cx="3510720" cy="189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11" name="Rounded Rectangle 1023"/>
          <p:cNvSpPr/>
          <p:nvPr/>
        </p:nvSpPr>
        <p:spPr>
          <a:xfrm>
            <a:off x="809640" y="4479840"/>
            <a:ext cx="3110760" cy="359640"/>
          </a:xfrm>
          <a:prstGeom prst="roundRect">
            <a:avLst>
              <a:gd name="adj" fmla="val 50000"/>
            </a:avLst>
          </a:prstGeom>
          <a:solidFill>
            <a:srgbClr val="12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</a:rPr>
              <a:t>DAY 1–30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Box 1024"/>
          <p:cNvSpPr/>
          <p:nvPr/>
        </p:nvSpPr>
        <p:spPr>
          <a:xfrm>
            <a:off x="809640" y="4929840"/>
            <a:ext cx="311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350" spc="-1" strike="noStrike">
                <a:solidFill>
                  <a:srgbClr val="0000b3"/>
                </a:solidFill>
                <a:latin typeface="Arial"/>
              </a:rPr>
              <a:t>Unblock &amp; Prove It Live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Box 1025"/>
          <p:cNvSpPr/>
          <p:nvPr/>
        </p:nvSpPr>
        <p:spPr>
          <a:xfrm>
            <a:off x="809640" y="5280120"/>
            <a:ext cx="311076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Get Chromosome AI access — validate as engine swap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Re-run the pilot; confirm nothing breaks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Deliver the first live stakeholder demo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Oval 1026"/>
          <p:cNvSpPr/>
          <p:nvPr/>
        </p:nvSpPr>
        <p:spPr>
          <a:xfrm>
            <a:off x="5875920" y="3719880"/>
            <a:ext cx="439560" cy="439560"/>
          </a:xfrm>
          <a:prstGeom prst="ellipse">
            <a:avLst/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ounded Rectangle 1027"/>
          <p:cNvSpPr/>
          <p:nvPr/>
        </p:nvSpPr>
        <p:spPr>
          <a:xfrm>
            <a:off x="4340520" y="4290120"/>
            <a:ext cx="3510720" cy="189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16" name="Rounded Rectangle 1028"/>
          <p:cNvSpPr/>
          <p:nvPr/>
        </p:nvSpPr>
        <p:spPr>
          <a:xfrm>
            <a:off x="4540680" y="4479840"/>
            <a:ext cx="3110760" cy="35964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</a:rPr>
              <a:t>DAY 31–60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Box 1029"/>
          <p:cNvSpPr/>
          <p:nvPr/>
        </p:nvSpPr>
        <p:spPr>
          <a:xfrm>
            <a:off x="4540680" y="4929840"/>
            <a:ext cx="311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350" spc="-1" strike="noStrike">
                <a:solidFill>
                  <a:srgbClr val="0000b3"/>
                </a:solidFill>
                <a:latin typeface="Arial"/>
              </a:rPr>
              <a:t>Harden the Core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1030"/>
          <p:cNvSpPr/>
          <p:nvPr/>
        </p:nvSpPr>
        <p:spPr>
          <a:xfrm>
            <a:off x="4540680" y="5280120"/>
            <a:ext cx="3110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Verify locators live against the real app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Move credentials to secure, sandboxed handling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Stand up a job queue for concurrent requests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Oval 1031"/>
          <p:cNvSpPr/>
          <p:nvPr/>
        </p:nvSpPr>
        <p:spPr>
          <a:xfrm>
            <a:off x="9606960" y="3719880"/>
            <a:ext cx="439560" cy="43956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ounded Rectangle 1032"/>
          <p:cNvSpPr/>
          <p:nvPr/>
        </p:nvSpPr>
        <p:spPr>
          <a:xfrm>
            <a:off x="8071560" y="4290120"/>
            <a:ext cx="3510720" cy="189972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1" name="Rounded Rectangle 1033"/>
          <p:cNvSpPr/>
          <p:nvPr/>
        </p:nvSpPr>
        <p:spPr>
          <a:xfrm>
            <a:off x="8271360" y="4479840"/>
            <a:ext cx="3110760" cy="359640"/>
          </a:xfrm>
          <a:prstGeom prst="roundRect">
            <a:avLst>
              <a:gd name="adj" fmla="val 50000"/>
            </a:avLst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69840" rIns="6984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</a:rPr>
              <a:t>DAY 61–90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Box 1034"/>
          <p:cNvSpPr/>
          <p:nvPr/>
        </p:nvSpPr>
        <p:spPr>
          <a:xfrm>
            <a:off x="8271360" y="4929840"/>
            <a:ext cx="311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350" spc="-1" strike="noStrike">
                <a:solidFill>
                  <a:srgbClr val="0000b3"/>
                </a:solidFill>
                <a:latin typeface="Arial"/>
              </a:rPr>
              <a:t>Scale to Production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1035"/>
          <p:cNvSpPr/>
          <p:nvPr/>
        </p:nvSpPr>
        <p:spPr>
          <a:xfrm>
            <a:off x="8271360" y="5280120"/>
            <a:ext cx="3110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Ship the web dashboard — submit, track, download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Isolate workspaces in per-job containers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408240"/>
              </a:tabLst>
            </a:pP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000" spc="-1" strike="noStrike">
                <a:solidFill>
                  <a:srgbClr val="222222"/>
                </a:solidFill>
                <a:latin typeface="DM Sans"/>
              </a:rPr>
              <a:t>Onboard the first production project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Box 1"/>
          <p:cNvSpPr/>
          <p:nvPr/>
        </p:nvSpPr>
        <p:spPr>
          <a:xfrm>
            <a:off x="233280" y="591840"/>
            <a:ext cx="10972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050" spc="137" strike="noStrike">
                <a:solidFill>
                  <a:srgbClr val="e08200"/>
                </a:solidFill>
                <a:latin typeface="Arial"/>
              </a:rPr>
              <a:t>WHAT'S NEXT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233280" y="780120"/>
            <a:ext cx="1195776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500" spc="-1" strike="noStrike">
                <a:solidFill>
                  <a:srgbClr val="0000b3"/>
                </a:solidFill>
                <a:latin typeface="Arial"/>
              </a:rPr>
              <a:t>Current Blocker &amp; Next Steps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Rounded Rectangle 1005"/>
          <p:cNvSpPr/>
          <p:nvPr/>
        </p:nvSpPr>
        <p:spPr>
          <a:xfrm>
            <a:off x="233280" y="1325160"/>
            <a:ext cx="619560" cy="33480"/>
          </a:xfrm>
          <a:prstGeom prst="roundRect">
            <a:avLst>
              <a:gd name="adj" fmla="val 50000"/>
            </a:avLst>
          </a:prstGeom>
          <a:solidFill>
            <a:srgbClr val="6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7" name="TextBox 1006"/>
          <p:cNvSpPr/>
          <p:nvPr/>
        </p:nvSpPr>
        <p:spPr>
          <a:xfrm>
            <a:off x="609480" y="1419840"/>
            <a:ext cx="109728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DM Sans"/>
              </a:rPr>
              <a:t>What's stopping a live demo today, and the concrete path to unblock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Rounded Rectangle 1007"/>
          <p:cNvSpPr/>
          <p:nvPr/>
        </p:nvSpPr>
        <p:spPr>
          <a:xfrm>
            <a:off x="609480" y="1900080"/>
            <a:ext cx="5311080" cy="359964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ffa500"/>
            </a:solidFill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29" name="Oval 1008"/>
          <p:cNvSpPr/>
          <p:nvPr/>
        </p:nvSpPr>
        <p:spPr>
          <a:xfrm>
            <a:off x="809640" y="2049840"/>
            <a:ext cx="559800" cy="5598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1009"/>
          <p:cNvSpPr/>
          <p:nvPr/>
        </p:nvSpPr>
        <p:spPr>
          <a:xfrm>
            <a:off x="1459440" y="2225160"/>
            <a:ext cx="42112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b56300"/>
                </a:solidFill>
                <a:latin typeface="Arial"/>
              </a:rPr>
              <a:t>Current Blocker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1010"/>
          <p:cNvSpPr/>
          <p:nvPr/>
        </p:nvSpPr>
        <p:spPr>
          <a:xfrm>
            <a:off x="909360" y="2750040"/>
            <a:ext cx="471132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The AI capability we use today comes from Anthropic (the company behind Claude) and needs an approved API key to run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408240"/>
              </a:tabLst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That key isn't approved for use on the org network yet — so even this working platform can't be demoed live to stakeholders today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408240"/>
              </a:tabLst>
            </a:pP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•  </a:t>
            </a:r>
            <a:r>
              <a:rPr b="0" lang="en-US" sz="1150" spc="-1" strike="noStrike">
                <a:solidFill>
                  <a:srgbClr val="222222"/>
                </a:solidFill>
                <a:latin typeface="DM Sans"/>
              </a:rPr>
              <a:t>We're evaluating Chromosome AI, the org's own in-house AI platform, as a direct swap for that one piece — access request is in progress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Rounded Rectangle 1011"/>
          <p:cNvSpPr/>
          <p:nvPr/>
        </p:nvSpPr>
        <p:spPr>
          <a:xfrm>
            <a:off x="6271200" y="1900080"/>
            <a:ext cx="5311080" cy="3599640"/>
          </a:xfrm>
          <a:prstGeom prst="roundRect">
            <a:avLst>
              <a:gd name="adj" fmla="val 6000"/>
            </a:avLst>
          </a:prstGeom>
          <a:solidFill>
            <a:srgbClr val="f2f3fa"/>
          </a:solidFill>
          <a:ln>
            <a:noFill/>
          </a:ln>
          <a:effectLst>
            <a:outerShdw blurRad="90000" dir="5400000" dist="28080" rotWithShape="0">
              <a:srgbClr val="1b1f3b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chemeClr val="lt1"/>
              </a:solidFill>
              <a:latin typeface="DM Sans"/>
            </a:endParaRPr>
          </a:p>
        </p:txBody>
      </p:sp>
      <p:sp>
        <p:nvSpPr>
          <p:cNvPr id="633" name="TextBox 1012"/>
          <p:cNvSpPr/>
          <p:nvPr/>
        </p:nvSpPr>
        <p:spPr>
          <a:xfrm>
            <a:off x="6571080" y="2225160"/>
            <a:ext cx="4711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500" spc="-1" strike="noStrike">
                <a:solidFill>
                  <a:srgbClr val="0000b3"/>
                </a:solidFill>
                <a:latin typeface="Arial"/>
              </a:rPr>
              <a:t>Next Steps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4" name="Connector 1013"/>
          <p:cNvCxnSpPr/>
          <p:nvPr/>
        </p:nvCxnSpPr>
        <p:spPr>
          <a:xfrm>
            <a:off x="6890760" y="2999880"/>
            <a:ext cx="360" cy="1720440"/>
          </a:xfrm>
          <a:prstGeom prst="straightConnector1">
            <a:avLst/>
          </a:prstGeom>
          <a:ln w="25400">
            <a:solidFill>
              <a:srgbClr val="d8dcee"/>
            </a:solidFill>
          </a:ln>
        </p:spPr>
      </p:cxnSp>
      <p:sp>
        <p:nvSpPr>
          <p:cNvPr id="635" name="Oval 1014"/>
          <p:cNvSpPr/>
          <p:nvPr/>
        </p:nvSpPr>
        <p:spPr>
          <a:xfrm>
            <a:off x="6651000" y="276012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1015"/>
          <p:cNvSpPr/>
          <p:nvPr/>
        </p:nvSpPr>
        <p:spPr>
          <a:xfrm>
            <a:off x="7291080" y="2800080"/>
            <a:ext cx="39913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Get Chromosome AI access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408240"/>
              </a:tabLst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Confirm it can do the same job — read and write files, run commands, and fix its own mistakes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Oval 1016"/>
          <p:cNvSpPr/>
          <p:nvPr/>
        </p:nvSpPr>
        <p:spPr>
          <a:xfrm>
            <a:off x="6651000" y="362016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1017"/>
          <p:cNvSpPr/>
          <p:nvPr/>
        </p:nvSpPr>
        <p:spPr>
          <a:xfrm>
            <a:off x="7291080" y="3660120"/>
            <a:ext cx="39913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Swap the AI engine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408240"/>
              </a:tabLst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Replace just that one piece — everything else about the platform stays exactly the same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Oval 1018"/>
          <p:cNvSpPr/>
          <p:nvPr/>
        </p:nvSpPr>
        <p:spPr>
          <a:xfrm>
            <a:off x="6651000" y="4479840"/>
            <a:ext cx="479520" cy="479520"/>
          </a:xfrm>
          <a:prstGeom prst="ellipse">
            <a:avLst/>
          </a:prstGeom>
          <a:solidFill>
            <a:srgbClr val="00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40824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Box 1019"/>
          <p:cNvSpPr/>
          <p:nvPr/>
        </p:nvSpPr>
        <p:spPr>
          <a:xfrm>
            <a:off x="7291080" y="4520160"/>
            <a:ext cx="39913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250" spc="-1" strike="noStrike">
                <a:solidFill>
                  <a:srgbClr val="0000b3"/>
                </a:solidFill>
                <a:latin typeface="Arial"/>
              </a:rPr>
              <a:t>Demo, then keep building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408240"/>
              </a:tabLst>
            </a:pPr>
            <a:r>
              <a:rPr b="0" lang="en-US" sz="1050" spc="-1" strike="noStrike">
                <a:solidFill>
                  <a:srgbClr val="222222"/>
                </a:solidFill>
                <a:latin typeface="DM Sans"/>
              </a:rPr>
              <a:t>Run a live demo for stakeholders, then add a proper web dashboard so anyone on the team can submit requests and track progress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2_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 pitchFamily="0" charset="1"/>
        <a:ea typeface=""/>
        <a:cs typeface=""/>
      </a:majorFont>
      <a:minorFont>
        <a:latin typeface="DM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FBE307A9FB147A13B995E92F26744" ma:contentTypeVersion="11" ma:contentTypeDescription="Create a new document." ma:contentTypeScope="" ma:versionID="5ad6d162a92ed5c1a71064a91088576c">
  <xsd:schema xmlns:xsd="http://www.w3.org/2001/XMLSchema" xmlns:xs="http://www.w3.org/2001/XMLSchema" xmlns:p="http://schemas.microsoft.com/office/2006/metadata/properties" xmlns:ns3="cc18b26c-bbac-43d3-83e9-970a571d42ca" targetNamespace="http://schemas.microsoft.com/office/2006/metadata/properties" ma:root="true" ma:fieldsID="608b2d3e19c73849ce631f3bc6de4937" ns3:_="">
    <xsd:import namespace="cc18b26c-bbac-43d3-83e9-970a571d42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8b26c-bbac-43d3-83e9-970a571d42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18b26c-bbac-43d3-83e9-970a571d42ca" xsi:nil="true"/>
  </documentManagement>
</p:properties>
</file>

<file path=customXml/itemProps1.xml><?xml version="1.0" encoding="utf-8"?>
<ds:datastoreItem xmlns:ds="http://schemas.openxmlformats.org/officeDocument/2006/customXml" ds:itemID="{F36415E4-9000-456E-9B51-7C979AEF523C}">
  <ds:schemaRefs>
    <ds:schemaRef ds:uri="cc18b26c-bbac-43d3-83e9-970a571d42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B12F0C-6342-4EBC-AD4A-9AF729C526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3CA696-2BAE-4A12-9207-3569762EAEA9}">
  <ds:schemaRefs>
    <ds:schemaRef ds:uri="cc18b26c-bbac-43d3-83e9-970a571d4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LibreOffice/24.2.0.3$Windows_X86_64 LibreOffice_project/da48488a73ddd66ea24cf16bbc4f7b9c08e9bea1</Application>
  <AppVersion>15.0000</AppVersion>
  <Company>Jaguar Land Rover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2026-06-05T10:02:29Z</dcterms:created>
  <dc:creator>Venkatesh, B.S </dc:creator>
  <dc:description/>
  <dc:language>en-US</dc:language>
  <cp:lastModifiedBy/>
  <dcterms:modified xsi:type="dcterms:W3CDTF">2026-08-26T06:59:47Z</dcterms:modified>
  <cp:revision>228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0x01010070BFBE307A9FB147A13B995E92F26744</vt:lpwstr>
  </property>
  <property fmtid="{D5CDD505-2E9C-101B-9397-08002B2CF9AE}" pid="3" name="MSIP_Label_289eaf13-f528-470e-bf6b-38b666617431_ActionId">
    <vt:lpwstr>c98e7eb1-4dcc-4e48-b441-e37401ffee54</vt:lpwstr>
  </property>
  <property fmtid="{D5CDD505-2E9C-101B-9397-08002B2CF9AE}" pid="4" name="MSIP_Label_289eaf13-f528-470e-bf6b-38b666617431_ContentBits">
    <vt:lpwstr>0</vt:lpwstr>
  </property>
  <property fmtid="{D5CDD505-2E9C-101B-9397-08002B2CF9AE}" pid="5" name="MSIP_Label_289eaf13-f528-470e-bf6b-38b666617431_Enabled">
    <vt:lpwstr>true</vt:lpwstr>
  </property>
  <property fmtid="{D5CDD505-2E9C-101B-9397-08002B2CF9AE}" pid="6" name="MSIP_Label_289eaf13-f528-470e-bf6b-38b666617431_Method">
    <vt:lpwstr>Standard</vt:lpwstr>
  </property>
  <property fmtid="{D5CDD505-2E9C-101B-9397-08002B2CF9AE}" pid="7" name="MSIP_Label_289eaf13-f528-470e-bf6b-38b666617431_Name">
    <vt:lpwstr>Proprietary</vt:lpwstr>
  </property>
  <property fmtid="{D5CDD505-2E9C-101B-9397-08002B2CF9AE}" pid="8" name="MSIP_Label_289eaf13-f528-470e-bf6b-38b666617431_SetDate">
    <vt:lpwstr>2026-06-05T10:02:29Z</vt:lpwstr>
  </property>
  <property fmtid="{D5CDD505-2E9C-101B-9397-08002B2CF9AE}" pid="9" name="MSIP_Label_289eaf13-f528-470e-bf6b-38b666617431_SiteId">
    <vt:lpwstr>4c087f80-1e07-4f72-9e41-d7d9748d0f4c</vt:lpwstr>
  </property>
  <property fmtid="{D5CDD505-2E9C-101B-9397-08002B2CF9AE}" pid="10" name="MSIP_Label_289eaf13-f528-470e-bf6b-38b666617431_Tag">
    <vt:lpwstr>10, 3, 0, 1</vt:lpwstr>
  </property>
  <property fmtid="{D5CDD505-2E9C-101B-9397-08002B2CF9AE}" pid="11" name="PresentationFormat">
    <vt:lpwstr>Widescreen</vt:lpwstr>
  </property>
  <property fmtid="{D5CDD505-2E9C-101B-9397-08002B2CF9AE}" pid="12" name="Slides">
    <vt:i4>5</vt:i4>
  </property>
</Properties>
</file>